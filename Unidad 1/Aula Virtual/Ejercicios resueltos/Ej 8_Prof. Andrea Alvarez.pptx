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5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dondear rectángulo de esquina diagonal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11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9 Rectángulo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6 Rectángulo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9" name="8 Marcador de fecha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10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3" name="12 Marcador de posición de imagen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s-E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dondear rectángulo de esquina diagonal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s-AR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3B2D4B35-DE40-470B-B59B-8B309B12D1DE}" type="datetimeFigureOut">
              <a:rPr lang="es-AR" smtClean="0"/>
              <a:t>28/4/2021</a:t>
            </a:fld>
            <a:endParaRPr lang="es-AR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AC9B1934-2897-4836-AFC7-24B87CB20757}" type="slidenum">
              <a:rPr lang="es-AR" smtClean="0"/>
              <a:t>‹Nº›</a:t>
            </a:fld>
            <a:endParaRPr lang="es-AR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6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92696"/>
            <a:ext cx="8424936" cy="1370393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3 CuadroTexto"/>
              <p:cNvSpPr txBox="1"/>
              <p:nvPr/>
            </p:nvSpPr>
            <p:spPr>
              <a:xfrm>
                <a:off x="334469" y="2787134"/>
                <a:ext cx="29841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𝑀</m:t>
                      </m:r>
                      <m:r>
                        <a:rPr lang="es-MX" b="0" i="1" smtClean="0">
                          <a:latin typeface="Cambria Math"/>
                        </a:rPr>
                        <m:t>:</m:t>
                      </m:r>
                      <m:r>
                        <a:rPr lang="es-MX" b="0" i="1" smtClean="0">
                          <a:latin typeface="Cambria Math"/>
                        </a:rPr>
                        <m:t>𝑒𝑙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𝑒𝑠𝑡𝑢𝑑𝑖𝑎𝑛𝑡𝑒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𝑒𝑠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𝑀𝑈𝐽𝐸𝑅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9" y="2787134"/>
                <a:ext cx="2984150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5 CuadroTexto"/>
              <p:cNvSpPr txBox="1"/>
              <p:nvPr/>
            </p:nvSpPr>
            <p:spPr>
              <a:xfrm>
                <a:off x="5364088" y="2778221"/>
                <a:ext cx="2952668" cy="378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𝑉</m:t>
                      </m:r>
                      <m:r>
                        <a:rPr lang="es-MX" b="0" i="1" smtClean="0">
                          <a:latin typeface="Cambria Math"/>
                        </a:rPr>
                        <m:t>:</m:t>
                      </m:r>
                      <m:r>
                        <a:rPr lang="es-MX" b="0" i="1" smtClean="0">
                          <a:latin typeface="Cambria Math"/>
                        </a:rPr>
                        <m:t>𝑒𝑙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𝑒𝑠𝑡𝑢𝑑𝑖𝑎𝑛𝑡𝑒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𝑒𝑠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𝑉𝐴𝑅</m:t>
                      </m:r>
                      <m:r>
                        <a:rPr lang="es-MX" b="0" i="1" smtClean="0">
                          <a:latin typeface="Cambria Math"/>
                        </a:rPr>
                        <m:t>Ó</m:t>
                      </m:r>
                      <m:r>
                        <a:rPr lang="es-MX" b="0" i="1" smtClean="0">
                          <a:latin typeface="Cambria Math"/>
                        </a:rPr>
                        <m:t>𝑁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2778221"/>
                <a:ext cx="2952668" cy="37824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6 CuadroTexto"/>
              <p:cNvSpPr txBox="1"/>
              <p:nvPr/>
            </p:nvSpPr>
            <p:spPr>
              <a:xfrm>
                <a:off x="2627784" y="3173627"/>
                <a:ext cx="34571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𝐴</m:t>
                      </m:r>
                      <m:r>
                        <a:rPr lang="es-MX" b="0" i="1" smtClean="0">
                          <a:latin typeface="Cambria Math"/>
                        </a:rPr>
                        <m:t>:</m:t>
                      </m:r>
                      <m:r>
                        <a:rPr lang="es-MX" b="0" i="1" smtClean="0">
                          <a:latin typeface="Cambria Math"/>
                        </a:rPr>
                        <m:t>𝑒𝑙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𝑒𝑠𝑡𝑢𝑑𝑖𝑎𝑛𝑡𝑒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𝑢𝑠𝑎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𝐴𝑁𝑇𝐸𝑂𝐽𝑂𝑆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3173627"/>
                <a:ext cx="3457100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4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1807526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𝑨</m:t>
                                    </m:r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4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1807526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00400" t="-1639" r="-2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200400" t="-1639" r="-1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400" t="-103333" r="-300000" b="-25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400" t="-154430" r="-300000" b="-96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8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3043759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𝑨</m:t>
                                    </m:r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9" name="8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3043759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100400" t="-1639" r="-2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200400" t="-1639" r="-1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400" t="-103333" r="-300000" b="-25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400" t="-154430" r="-300000" b="-96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9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1802279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𝑨</m:t>
                                    </m:r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8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9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1802279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100400" t="-1639" r="-2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200400" t="-1639" r="-1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400" t="-103333" r="-300000" b="-25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8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400" t="-154430" r="-300000" b="-96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7 CuadroTexto"/>
              <p:cNvSpPr txBox="1"/>
              <p:nvPr/>
            </p:nvSpPr>
            <p:spPr>
              <a:xfrm>
                <a:off x="251342" y="5661248"/>
                <a:ext cx="4724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𝑎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42" y="5661248"/>
                <a:ext cx="472437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10 CuadroTexto"/>
              <p:cNvSpPr txBox="1"/>
              <p:nvPr/>
            </p:nvSpPr>
            <p:spPr>
              <a:xfrm>
                <a:off x="899592" y="5666741"/>
                <a:ext cx="11928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𝑀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5666741"/>
                <a:ext cx="1192891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11 CuadroTexto"/>
              <p:cNvSpPr txBox="1"/>
              <p:nvPr/>
            </p:nvSpPr>
            <p:spPr>
              <a:xfrm>
                <a:off x="1992775" y="5661248"/>
                <a:ext cx="30122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𝑀</m:t>
                          </m:r>
                        </m:e>
                      </m:d>
                      <m:r>
                        <a:rPr lang="es-MX" b="0" i="1" smtClean="0">
                          <a:latin typeface="Cambria Math"/>
                        </a:rPr>
                        <m:t>−</m:t>
                      </m:r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𝑀</m:t>
                          </m: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2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775" y="5661248"/>
                <a:ext cx="3012299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12 CuadroTexto"/>
              <p:cNvSpPr txBox="1"/>
              <p:nvPr/>
            </p:nvSpPr>
            <p:spPr>
              <a:xfrm>
                <a:off x="4915890" y="5506110"/>
                <a:ext cx="1800493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16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10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16</m:t>
                          </m:r>
                        </m:den>
                      </m:f>
                      <m:r>
                        <a:rPr lang="es-MX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890" y="5506110"/>
                <a:ext cx="1800493" cy="6127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14 CuadroTexto"/>
              <p:cNvSpPr txBox="1"/>
              <p:nvPr/>
            </p:nvSpPr>
            <p:spPr>
              <a:xfrm>
                <a:off x="3422205" y="6126171"/>
                <a:ext cx="1653851" cy="610936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𝑨</m:t>
                          </m:r>
                          <m: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𝑴</m:t>
                          </m:r>
                        </m:e>
                      </m:d>
                      <m:r>
                        <a:rPr lang="es-MX" b="1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s-AR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5" name="1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205" y="6126171"/>
                <a:ext cx="1653851" cy="610936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16 Elipse"/>
          <p:cNvSpPr/>
          <p:nvPr/>
        </p:nvSpPr>
        <p:spPr>
          <a:xfrm>
            <a:off x="2339752" y="795147"/>
            <a:ext cx="250413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9" name="18 Conector recto"/>
          <p:cNvCxnSpPr/>
          <p:nvPr/>
        </p:nvCxnSpPr>
        <p:spPr>
          <a:xfrm>
            <a:off x="4788024" y="1083179"/>
            <a:ext cx="3832574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611560" y="1268760"/>
            <a:ext cx="2698426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06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1" grpId="0"/>
      <p:bldP spid="12" grpId="0"/>
      <p:bldP spid="13" grpId="0"/>
      <p:bldP spid="15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92696"/>
            <a:ext cx="8424936" cy="1370393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3 CuadroTexto"/>
              <p:cNvSpPr txBox="1"/>
              <p:nvPr/>
            </p:nvSpPr>
            <p:spPr>
              <a:xfrm>
                <a:off x="334469" y="2787134"/>
                <a:ext cx="29841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𝑀</m:t>
                      </m:r>
                      <m:r>
                        <a:rPr lang="es-MX" b="0" i="1" smtClean="0">
                          <a:latin typeface="Cambria Math"/>
                        </a:rPr>
                        <m:t>:</m:t>
                      </m:r>
                      <m:r>
                        <a:rPr lang="es-MX" b="0" i="1" smtClean="0">
                          <a:latin typeface="Cambria Math"/>
                        </a:rPr>
                        <m:t>𝑒𝑙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𝑒𝑠𝑡𝑢𝑑𝑖𝑎𝑛𝑡𝑒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𝑒𝑠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𝑀𝑈𝐽𝐸𝑅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9" y="2787134"/>
                <a:ext cx="2984150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5 CuadroTexto"/>
              <p:cNvSpPr txBox="1"/>
              <p:nvPr/>
            </p:nvSpPr>
            <p:spPr>
              <a:xfrm>
                <a:off x="5364088" y="2778221"/>
                <a:ext cx="2952668" cy="378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𝑉</m:t>
                      </m:r>
                      <m:r>
                        <a:rPr lang="es-MX" b="0" i="1" smtClean="0">
                          <a:latin typeface="Cambria Math"/>
                        </a:rPr>
                        <m:t>:</m:t>
                      </m:r>
                      <m:r>
                        <a:rPr lang="es-MX" b="0" i="1" smtClean="0">
                          <a:latin typeface="Cambria Math"/>
                        </a:rPr>
                        <m:t>𝑒𝑙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𝑒𝑠𝑡𝑢𝑑𝑖𝑎𝑛𝑡𝑒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𝑒𝑠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𝑉𝐴𝑅</m:t>
                      </m:r>
                      <m:r>
                        <a:rPr lang="es-MX" b="0" i="1" smtClean="0">
                          <a:latin typeface="Cambria Math"/>
                        </a:rPr>
                        <m:t>Ó</m:t>
                      </m:r>
                      <m:r>
                        <a:rPr lang="es-MX" b="0" i="1" smtClean="0">
                          <a:latin typeface="Cambria Math"/>
                        </a:rPr>
                        <m:t>𝑁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2778221"/>
                <a:ext cx="2952668" cy="37824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6 CuadroTexto"/>
              <p:cNvSpPr txBox="1"/>
              <p:nvPr/>
            </p:nvSpPr>
            <p:spPr>
              <a:xfrm>
                <a:off x="2627784" y="3173627"/>
                <a:ext cx="34571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𝐴</m:t>
                      </m:r>
                      <m:r>
                        <a:rPr lang="es-MX" b="0" i="1" smtClean="0">
                          <a:latin typeface="Cambria Math"/>
                        </a:rPr>
                        <m:t>:</m:t>
                      </m:r>
                      <m:r>
                        <a:rPr lang="es-MX" b="0" i="1" smtClean="0">
                          <a:latin typeface="Cambria Math"/>
                        </a:rPr>
                        <m:t>𝑒𝑙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𝑒𝑠𝑡𝑢𝑑𝑖𝑎𝑛𝑡𝑒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𝑢𝑠𝑎</m:t>
                      </m:r>
                      <m:r>
                        <a:rPr lang="es-MX" b="0" i="1" smtClean="0">
                          <a:latin typeface="Cambria Math"/>
                        </a:rPr>
                        <m:t> </m:t>
                      </m:r>
                      <m:r>
                        <a:rPr lang="es-MX" b="0" i="1" smtClean="0">
                          <a:latin typeface="Cambria Math"/>
                        </a:rPr>
                        <m:t>𝐴𝑁𝑇𝐸𝑂𝐽𝑂𝑆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3173627"/>
                <a:ext cx="3457100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4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7022245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𝑨</m:t>
                                    </m:r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4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7022245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00400" t="-1639" r="-2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200400" t="-1639" r="-1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400" t="-103333" r="-300000" b="-25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400" t="-154430" r="-300000" b="-96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8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8036537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𝑨</m:t>
                                    </m:r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9" name="8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8036537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100400" t="-1639" r="-2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200400" t="-1639" r="-1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400" t="-103333" r="-300000" b="-25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400" t="-154430" r="-300000" b="-96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9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5285371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AR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𝑨</m:t>
                                    </m:r>
                                    <m:r>
                                      <a:rPr lang="es-MX" b="1" i="1" smtClean="0">
                                        <a:latin typeface="Cambria Math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8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9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5285371"/>
                  </p:ext>
                </p:extLst>
              </p:nvPr>
            </p:nvGraphicFramePr>
            <p:xfrm>
              <a:off x="899592" y="3789040"/>
              <a:ext cx="6096000" cy="1594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100400" t="-1639" r="-2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200400" t="-1639" r="-100000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400" t="-103333" r="-300000" b="-25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8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10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482456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400" t="-154430" r="-300000" b="-96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6</a:t>
                          </a:r>
                          <a:endParaRPr lang="es-A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4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12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16</a:t>
                          </a:r>
                          <a:endParaRPr lang="es-A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7 CuadroTexto"/>
              <p:cNvSpPr txBox="1"/>
              <p:nvPr/>
            </p:nvSpPr>
            <p:spPr>
              <a:xfrm>
                <a:off x="251342" y="5661248"/>
                <a:ext cx="468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𝑏</m:t>
                      </m:r>
                      <m:r>
                        <a:rPr lang="es-MX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42" y="5661248"/>
                <a:ext cx="468653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10 CuadroTexto"/>
              <p:cNvSpPr txBox="1"/>
              <p:nvPr/>
            </p:nvSpPr>
            <p:spPr>
              <a:xfrm>
                <a:off x="899592" y="5666741"/>
                <a:ext cx="1192954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s-MX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acc>
                            <m:accPr>
                              <m:chr m:val="̅"/>
                              <m:ctrlP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𝐴</m:t>
                              </m:r>
                              <m:r>
                                <a:rPr lang="es-MX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5666741"/>
                <a:ext cx="1192954" cy="369909"/>
              </a:xfrm>
              <a:prstGeom prst="rect">
                <a:avLst/>
              </a:prstGeom>
              <a:blipFill rotWithShape="1">
                <a:blip r:embed="rId10"/>
                <a:stretch>
                  <a:fillRect r="-1487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12 CuadroTexto"/>
              <p:cNvSpPr txBox="1"/>
              <p:nvPr/>
            </p:nvSpPr>
            <p:spPr>
              <a:xfrm>
                <a:off x="1907704" y="5506110"/>
                <a:ext cx="736099" cy="6117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s-MX" b="0" i="1" smtClean="0">
                              <a:latin typeface="Cambria Math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5506110"/>
                <a:ext cx="736099" cy="611706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14 CuadroTexto"/>
              <p:cNvSpPr txBox="1"/>
              <p:nvPr/>
            </p:nvSpPr>
            <p:spPr>
              <a:xfrm>
                <a:off x="3422205" y="6021288"/>
                <a:ext cx="1642566" cy="610936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𝑽</m:t>
                          </m:r>
                          <m: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∩</m:t>
                          </m:r>
                          <m:acc>
                            <m:accPr>
                              <m:chr m:val="̅"/>
                              <m:ctrlPr>
                                <a:rPr lang="es-MX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s-MX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𝑨</m:t>
                              </m:r>
                              <m:r>
                                <a:rPr lang="es-MX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</m:e>
                          </m:acc>
                        </m:e>
                      </m:d>
                      <m:r>
                        <a:rPr lang="es-MX" b="1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s-MX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s-AR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5" name="1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205" y="6021288"/>
                <a:ext cx="1642566" cy="610936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16 Elipse"/>
          <p:cNvSpPr/>
          <p:nvPr/>
        </p:nvSpPr>
        <p:spPr>
          <a:xfrm>
            <a:off x="2339752" y="795147"/>
            <a:ext cx="2504130" cy="2880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9" name="18 Conector recto"/>
          <p:cNvCxnSpPr/>
          <p:nvPr/>
        </p:nvCxnSpPr>
        <p:spPr>
          <a:xfrm>
            <a:off x="4788024" y="1083179"/>
            <a:ext cx="3832574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611560" y="1268760"/>
            <a:ext cx="2698426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44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undición">
  <a:themeElements>
    <a:clrScheme name="Fundición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undición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undició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34</TotalTime>
  <Words>186</Words>
  <Application>Microsoft Office PowerPoint</Application>
  <PresentationFormat>Presentación en pantalla (4:3)</PresentationFormat>
  <Paragraphs>75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Fundición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</dc:creator>
  <cp:lastModifiedBy>Andrea</cp:lastModifiedBy>
  <cp:revision>7</cp:revision>
  <dcterms:created xsi:type="dcterms:W3CDTF">2021-04-28T22:59:23Z</dcterms:created>
  <dcterms:modified xsi:type="dcterms:W3CDTF">2021-04-28T23:33:58Z</dcterms:modified>
</cp:coreProperties>
</file>