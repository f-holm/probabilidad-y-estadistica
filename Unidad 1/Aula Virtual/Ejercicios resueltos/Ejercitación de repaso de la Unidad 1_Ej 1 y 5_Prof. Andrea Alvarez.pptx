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66" d="100"/>
          <a:sy n="66" d="100"/>
        </p:scale>
        <p:origin x="-2100" y="-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8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D3ED1-0753-40D0-A968-D85444424374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5A6F5-0F40-42BC-AE36-AB09CC1C65E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364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5A6F5-0F40-42BC-AE36-AB09CC1C65EE}" type="slidenum">
              <a:rPr lang="es-ES" smtClean="0"/>
              <a:pPr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86478" y="764704"/>
            <a:ext cx="656981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1400" b="1" dirty="0" err="1" smtClean="0"/>
              <a:t>Ej</a:t>
            </a:r>
            <a:r>
              <a:rPr lang="es-US" sz="1400" b="1" dirty="0" smtClean="0"/>
              <a:t> 1</a:t>
            </a:r>
            <a:r>
              <a:rPr lang="es-US" sz="1400" dirty="0" smtClean="0"/>
              <a:t>La </a:t>
            </a:r>
            <a:r>
              <a:rPr lang="es-US" sz="1400" dirty="0"/>
              <a:t>UTN posee tres cursos de Probabilidad y </a:t>
            </a:r>
            <a:r>
              <a:rPr lang="es-US" sz="1400" dirty="0" smtClean="0"/>
              <a:t>Estadística </a:t>
            </a:r>
            <a:r>
              <a:rPr lang="es-US" sz="1400" dirty="0"/>
              <a:t>en el turno noche. El </a:t>
            </a:r>
            <a:r>
              <a:rPr lang="es-US" sz="1400" dirty="0" smtClean="0"/>
              <a:t>primero</a:t>
            </a:r>
          </a:p>
          <a:p>
            <a:r>
              <a:rPr lang="es-US" sz="1400" dirty="0" smtClean="0"/>
              <a:t> </a:t>
            </a:r>
            <a:r>
              <a:rPr lang="es-US" sz="1400" dirty="0"/>
              <a:t>tiene 35 estudiantes, de los cuales 3 no poseen trabajo, el segundo curso consta de 25 </a:t>
            </a:r>
            <a:endParaRPr lang="es-US" sz="1400" dirty="0" smtClean="0"/>
          </a:p>
          <a:p>
            <a:r>
              <a:rPr lang="es-US" sz="1400" dirty="0" smtClean="0"/>
              <a:t>estudiantes</a:t>
            </a:r>
            <a:r>
              <a:rPr lang="es-US" sz="1400" dirty="0"/>
              <a:t>, de los cuales 5 no tienen trabajo, mientras que el tercero </a:t>
            </a:r>
            <a:r>
              <a:rPr lang="es-US" sz="1400" dirty="0" smtClean="0"/>
              <a:t>est</a:t>
            </a:r>
            <a:r>
              <a:rPr lang="es-US" sz="1400" dirty="0"/>
              <a:t>á</a:t>
            </a:r>
            <a:r>
              <a:rPr lang="es-US" sz="1400" dirty="0" smtClean="0"/>
              <a:t> </a:t>
            </a:r>
            <a:r>
              <a:rPr lang="es-US" sz="1400" dirty="0"/>
              <a:t>compuesto </a:t>
            </a:r>
            <a:endParaRPr lang="es-US" sz="1400" dirty="0" smtClean="0"/>
          </a:p>
          <a:p>
            <a:r>
              <a:rPr lang="es-US" sz="1400" dirty="0" smtClean="0"/>
              <a:t>por </a:t>
            </a:r>
            <a:r>
              <a:rPr lang="es-US" sz="1400" dirty="0"/>
              <a:t>18 estudiantes, de los cuales 4 no tienen trabajo</a:t>
            </a:r>
            <a:r>
              <a:rPr lang="es-US" sz="1400" dirty="0" smtClean="0"/>
              <a:t>.</a:t>
            </a:r>
          </a:p>
          <a:p>
            <a:pPr marL="342900" indent="-342900">
              <a:buAutoNum type="alphaLcParenR"/>
            </a:pPr>
            <a:r>
              <a:rPr lang="es-US" sz="1400" dirty="0" smtClean="0"/>
              <a:t>Si </a:t>
            </a:r>
            <a:r>
              <a:rPr lang="es-US" sz="1400" dirty="0"/>
              <a:t>se elige al azar un alumno del turno noche, calcular la probabilidad de que: </a:t>
            </a:r>
            <a:endParaRPr lang="es-US" sz="1400" dirty="0" smtClean="0"/>
          </a:p>
          <a:p>
            <a:r>
              <a:rPr lang="es-US" sz="1400" dirty="0" smtClean="0"/>
              <a:t>       1</a:t>
            </a:r>
            <a:r>
              <a:rPr lang="es-US" sz="1400" dirty="0"/>
              <a:t>) no tenga trabajo</a:t>
            </a:r>
            <a:r>
              <a:rPr lang="es-US" sz="1400" dirty="0" smtClean="0"/>
              <a:t>.</a:t>
            </a:r>
          </a:p>
          <a:p>
            <a:r>
              <a:rPr lang="es-US" sz="1400" dirty="0" smtClean="0"/>
              <a:t>       2</a:t>
            </a:r>
            <a:r>
              <a:rPr lang="es-US" sz="1400" dirty="0"/>
              <a:t>) no tenga trabajo si se sabe que es del primer curso</a:t>
            </a:r>
            <a:r>
              <a:rPr lang="es-US" sz="1400" dirty="0" smtClean="0"/>
              <a:t>.</a:t>
            </a:r>
          </a:p>
          <a:p>
            <a:r>
              <a:rPr lang="es-US" sz="1400" dirty="0" smtClean="0"/>
              <a:t>       3</a:t>
            </a:r>
            <a:r>
              <a:rPr lang="es-US" sz="1400" dirty="0"/>
              <a:t>) si tiene trabajo, sea del tercer curso</a:t>
            </a:r>
            <a:r>
              <a:rPr lang="es-US" sz="1400" dirty="0" smtClean="0"/>
              <a:t>.</a:t>
            </a:r>
          </a:p>
          <a:p>
            <a:r>
              <a:rPr lang="es-US" sz="1400" dirty="0"/>
              <a:t>b) Si se seleccionan cuatro estudiantes al azar del turno noche, </a:t>
            </a:r>
            <a:r>
              <a:rPr lang="es-US" sz="1400" dirty="0" smtClean="0"/>
              <a:t>cuál </a:t>
            </a:r>
            <a:r>
              <a:rPr lang="es-US" sz="1400" dirty="0"/>
              <a:t>es la </a:t>
            </a:r>
            <a:r>
              <a:rPr lang="es-US" sz="1400" dirty="0" smtClean="0"/>
              <a:t>probabilidad</a:t>
            </a:r>
          </a:p>
          <a:p>
            <a:r>
              <a:rPr lang="es-US" sz="1400" dirty="0" smtClean="0"/>
              <a:t> </a:t>
            </a:r>
            <a:r>
              <a:rPr lang="es-US" sz="1400" dirty="0"/>
              <a:t>de que dos no tengan trabajo y dos </a:t>
            </a:r>
            <a:r>
              <a:rPr lang="es-US" sz="1400" dirty="0" smtClean="0"/>
              <a:t>s</a:t>
            </a:r>
            <a:r>
              <a:rPr lang="es-US" sz="1400" dirty="0"/>
              <a:t>í</a:t>
            </a:r>
            <a:r>
              <a:rPr lang="es-US" sz="1400" dirty="0" smtClean="0"/>
              <a:t>. </a:t>
            </a:r>
            <a:endParaRPr lang="es-ES" sz="14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180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2819306" y="177284"/>
            <a:ext cx="34419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dirty="0" smtClean="0"/>
              <a:t>Ejercicios de repaso de la Unidad 1</a:t>
            </a:r>
            <a:endParaRPr lang="es-ES" dirty="0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8" name="27 Rectángulo"/>
          <p:cNvSpPr/>
          <p:nvPr/>
        </p:nvSpPr>
        <p:spPr>
          <a:xfrm>
            <a:off x="325448" y="546616"/>
            <a:ext cx="6630842" cy="24648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1 CuadroTexto"/>
          <p:cNvSpPr txBox="1"/>
          <p:nvPr/>
        </p:nvSpPr>
        <p:spPr>
          <a:xfrm>
            <a:off x="102228" y="3083727"/>
            <a:ext cx="27479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1° </a:t>
            </a:r>
            <a:r>
              <a:rPr lang="es-US" dirty="0" err="1" smtClean="0"/>
              <a:t>Curso:A</a:t>
            </a:r>
            <a:r>
              <a:rPr lang="es-US" dirty="0" smtClean="0"/>
              <a:t> (35 estudiantes)</a:t>
            </a:r>
          </a:p>
          <a:p>
            <a:r>
              <a:rPr lang="es-US" dirty="0" smtClean="0"/>
              <a:t>2° curso: B (25 estudiantes)</a:t>
            </a:r>
          </a:p>
          <a:p>
            <a:r>
              <a:rPr lang="es-US" dirty="0" smtClean="0"/>
              <a:t>3° curso: C (18 estudiantes)</a:t>
            </a:r>
            <a:endParaRPr lang="es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39280" y="4044698"/>
                <a:ext cx="4165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US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US" b="0" i="1" smtClean="0">
                              <a:latin typeface="Cambria Math"/>
                            </a:rPr>
                            <m:t>𝑇</m:t>
                          </m:r>
                        </m:e>
                      </m:acc>
                      <m:r>
                        <a:rPr lang="es-US" b="0" i="1" smtClean="0">
                          <a:latin typeface="Cambria Math"/>
                        </a:rPr>
                        <m:t>:  </m:t>
                      </m:r>
                      <m:r>
                        <a:rPr lang="es-US" b="0" i="1" smtClean="0">
                          <a:latin typeface="Cambria Math"/>
                        </a:rPr>
                        <m:t>𝑒𝑠𝑡𝑢𝑑𝑖𝑎𝑛𝑡𝑒𝑠</m:t>
                      </m:r>
                      <m:r>
                        <a:rPr lang="es-US" b="0" i="1" smtClean="0">
                          <a:latin typeface="Cambria Math"/>
                        </a:rPr>
                        <m:t> </m:t>
                      </m:r>
                      <m:r>
                        <a:rPr lang="es-US" b="0" i="1" smtClean="0">
                          <a:latin typeface="Cambria Math"/>
                        </a:rPr>
                        <m:t>𝑞𝑢𝑒</m:t>
                      </m:r>
                      <m:r>
                        <a:rPr lang="es-US" b="0" i="1" smtClean="0">
                          <a:latin typeface="Cambria Math"/>
                        </a:rPr>
                        <m:t> </m:t>
                      </m:r>
                      <m:r>
                        <a:rPr lang="es-US" b="0" i="1" smtClean="0">
                          <a:latin typeface="Cambria Math"/>
                        </a:rPr>
                        <m:t>𝑛𝑜</m:t>
                      </m:r>
                      <m:r>
                        <a:rPr lang="es-US" b="0" i="1" smtClean="0">
                          <a:latin typeface="Cambria Math"/>
                        </a:rPr>
                        <m:t> </m:t>
                      </m:r>
                      <m:r>
                        <a:rPr lang="es-US" b="0" i="1" smtClean="0">
                          <a:latin typeface="Cambria Math"/>
                        </a:rPr>
                        <m:t>𝑡𝑖𝑒𝑛𝑒𝑛</m:t>
                      </m:r>
                      <m:r>
                        <a:rPr lang="es-US" b="0" i="1" smtClean="0">
                          <a:latin typeface="Cambria Math"/>
                        </a:rPr>
                        <m:t> </m:t>
                      </m:r>
                      <m:r>
                        <a:rPr lang="es-US" b="0" i="1" smtClean="0">
                          <a:latin typeface="Cambria Math"/>
                        </a:rPr>
                        <m:t>𝑡𝑟𝑎𝑏𝑎𝑗𝑜</m:t>
                      </m:r>
                      <m:r>
                        <a:rPr lang="es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0" y="4044698"/>
                <a:ext cx="4165051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11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7753968"/>
                  </p:ext>
                </p:extLst>
              </p:nvPr>
            </p:nvGraphicFramePr>
            <p:xfrm>
              <a:off x="4427984" y="3000548"/>
              <a:ext cx="2088230" cy="15927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"/>
                    <a:gridCol w="417646"/>
                    <a:gridCol w="417646"/>
                    <a:gridCol w="417646"/>
                    <a:gridCol w="417646"/>
                  </a:tblGrid>
                  <a:tr h="334636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A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B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C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/>
                    </a:tc>
                  </a:tr>
                  <a:tr h="3346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s-US" b="0" i="0" smtClean="0">
                                    <a:latin typeface="Cambria Math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es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/>
                        </a:p>
                      </a:txBody>
                      <a:tcPr/>
                    </a:tc>
                  </a:tr>
                  <a:tr h="3346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US" i="1" dirty="0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US" b="0" i="0" dirty="0" smtClean="0">
                                        <a:latin typeface="Cambria Math"/>
                                      </a:rPr>
                                      <m:t>T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4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 dirty="0"/>
                        </a:p>
                      </a:txBody>
                      <a:tcPr/>
                    </a:tc>
                  </a:tr>
                  <a:tr h="495511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25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18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11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2127753968"/>
                  </p:ext>
                </p:extLst>
              </p:nvPr>
            </p:nvGraphicFramePr>
            <p:xfrm>
              <a:off x="4427984" y="3000548"/>
              <a:ext cx="2088230" cy="15927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"/>
                    <a:gridCol w="417646"/>
                    <a:gridCol w="417646"/>
                    <a:gridCol w="417646"/>
                    <a:gridCol w="41764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A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B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C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t="-108333" r="-397101" b="-2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t="-208333" r="-397101" b="-1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4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 dirty="0"/>
                        </a:p>
                      </a:txBody>
                      <a:tcPr/>
                    </a:tc>
                  </a:tr>
                  <a:tr h="495511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25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18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2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3662708"/>
                  </p:ext>
                </p:extLst>
              </p:nvPr>
            </p:nvGraphicFramePr>
            <p:xfrm>
              <a:off x="6732240" y="3011473"/>
              <a:ext cx="2088230" cy="15927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"/>
                    <a:gridCol w="417646"/>
                    <a:gridCol w="417646"/>
                    <a:gridCol w="417646"/>
                    <a:gridCol w="417646"/>
                  </a:tblGrid>
                  <a:tr h="293752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A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B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C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/>
                    </a:tc>
                  </a:tr>
                  <a:tr h="3346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s-US" b="0" i="0" smtClean="0">
                                    <a:latin typeface="Cambria Math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es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32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20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14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66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346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US" i="1" dirty="0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US" b="0" i="0" dirty="0" smtClean="0">
                                        <a:latin typeface="Cambria Math"/>
                                      </a:rPr>
                                      <m:t>T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4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12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95511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25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18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78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2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1813662708"/>
                  </p:ext>
                </p:extLst>
              </p:nvPr>
            </p:nvGraphicFramePr>
            <p:xfrm>
              <a:off x="6732240" y="3011473"/>
              <a:ext cx="2088230" cy="15927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"/>
                    <a:gridCol w="417646"/>
                    <a:gridCol w="417646"/>
                    <a:gridCol w="417646"/>
                    <a:gridCol w="41764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A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B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C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t="-108333" r="-397101" b="-2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32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20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14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66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t="-208333" r="-397101" b="-1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4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12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95511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25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18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78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26 CuadroTexto"/>
              <p:cNvSpPr txBox="1"/>
              <p:nvPr/>
            </p:nvSpPr>
            <p:spPr>
              <a:xfrm>
                <a:off x="102228" y="4509120"/>
                <a:ext cx="5124352" cy="1747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a)    1) </a:t>
                </a:r>
                <a14:m>
                  <m:oMath xmlns:m="http://schemas.openxmlformats.org/officeDocument/2006/math">
                    <m:r>
                      <a:rPr lang="es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US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US" b="0" i="1" smtClean="0">
                                <a:latin typeface="Cambria Math"/>
                              </a:rPr>
                              <m:t>𝑇</m:t>
                            </m:r>
                          </m:e>
                        </m:acc>
                      </m:e>
                    </m:d>
                  </m:oMath>
                </a14:m>
                <a:r>
                  <a:rPr lang="es-US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dirty="0" smtClean="0">
                            <a:latin typeface="Cambria Math"/>
                          </a:rPr>
                          <m:t>12</m:t>
                        </m:r>
                      </m:num>
                      <m:den>
                        <m:r>
                          <a:rPr lang="es-US" b="0" i="1" dirty="0" smtClean="0">
                            <a:latin typeface="Cambria Math"/>
                          </a:rPr>
                          <m:t>78</m:t>
                        </m:r>
                      </m:den>
                    </m:f>
                  </m:oMath>
                </a14:m>
                <a:endParaRPr lang="es-US" dirty="0" smtClean="0"/>
              </a:p>
              <a:p>
                <a:r>
                  <a:rPr lang="es-US" dirty="0" smtClean="0"/>
                  <a:t>        2) </a:t>
                </a:r>
                <a14:m>
                  <m:oMath xmlns:m="http://schemas.openxmlformats.org/officeDocument/2006/math">
                    <m:r>
                      <a:rPr lang="es-US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US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US" i="1">
                                <a:latin typeface="Cambria Math"/>
                              </a:rPr>
                              <m:t>𝑇</m:t>
                            </m:r>
                          </m:e>
                        </m:acc>
                        <m:r>
                          <a:rPr lang="es-US" b="0" i="1" smtClean="0">
                            <a:latin typeface="Cambria Math"/>
                          </a:rPr>
                          <m:t>/</m:t>
                        </m:r>
                        <m:r>
                          <a:rPr lang="es-US" b="0" i="1" smtClean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s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US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dirty="0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s-US" b="0" i="1" dirty="0" smtClean="0">
                            <a:latin typeface="Cambria Math"/>
                          </a:rPr>
                          <m:t>35</m:t>
                        </m:r>
                      </m:den>
                    </m:f>
                  </m:oMath>
                </a14:m>
                <a:r>
                  <a:rPr lang="es-US" dirty="0" smtClean="0"/>
                  <a:t>    o  </a:t>
                </a:r>
                <a14:m>
                  <m:oMath xmlns:m="http://schemas.openxmlformats.org/officeDocument/2006/math">
                    <m:r>
                      <a:rPr lang="es-US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US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US" i="1">
                                <a:latin typeface="Cambria Math"/>
                              </a:rPr>
                              <m:t>𝑇</m:t>
                            </m:r>
                          </m:e>
                        </m:acc>
                        <m:r>
                          <a:rPr lang="es-US" i="1">
                            <a:latin typeface="Cambria Math"/>
                          </a:rPr>
                          <m:t>/</m:t>
                        </m:r>
                        <m:r>
                          <a:rPr lang="es-US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i="1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s-US" i="1">
                                <a:latin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US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s-US" i="1">
                                    <a:latin typeface="Cambria Math"/>
                                  </a:rPr>
                                  <m:t>𝑇</m:t>
                                </m:r>
                              </m:e>
                            </m:acc>
                            <m:r>
                              <a:rPr lang="es-US" i="1" smtClean="0">
                                <a:latin typeface="Cambria Math"/>
                                <a:ea typeface="Cambria Math"/>
                              </a:rPr>
                              <m:t>∩</m:t>
                            </m:r>
                            <m:r>
                              <a:rPr lang="es-US" i="1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𝐴</m:t>
                        </m:r>
                        <m:r>
                          <a:rPr lang="es-US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US" b="0" i="1" smtClean="0"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s-US" b="0" i="1" smtClean="0">
                                <a:latin typeface="Cambria Math"/>
                              </a:rPr>
                              <m:t>78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US" b="0" i="1" smtClean="0">
                                <a:latin typeface="Cambria Math"/>
                              </a:rPr>
                              <m:t>35</m:t>
                            </m:r>
                          </m:num>
                          <m:den>
                            <m:r>
                              <a:rPr lang="es-US" b="0" i="1" smtClean="0">
                                <a:latin typeface="Cambria Math"/>
                              </a:rPr>
                              <m:t>78</m:t>
                            </m:r>
                          </m:den>
                        </m:f>
                      </m:den>
                    </m:f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35</m:t>
                        </m:r>
                      </m:den>
                    </m:f>
                  </m:oMath>
                </a14:m>
                <a:endParaRPr lang="es-US" dirty="0" smtClean="0"/>
              </a:p>
              <a:p>
                <a:r>
                  <a:rPr lang="es-US" dirty="0" smtClean="0"/>
                  <a:t>        3) </a:t>
                </a:r>
                <a14:m>
                  <m:oMath xmlns:m="http://schemas.openxmlformats.org/officeDocument/2006/math">
                    <m:r>
                      <a:rPr lang="es-US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US" i="1">
                            <a:latin typeface="Cambria Math"/>
                          </a:rPr>
                        </m:ctrlPr>
                      </m:dPr>
                      <m:e>
                        <m:r>
                          <a:rPr lang="es-US" b="0" i="1" smtClean="0">
                            <a:latin typeface="Cambria Math"/>
                          </a:rPr>
                          <m:t>𝐶</m:t>
                        </m:r>
                        <m:r>
                          <a:rPr lang="es-US" i="1">
                            <a:latin typeface="Cambria Math"/>
                          </a:rPr>
                          <m:t>/</m:t>
                        </m:r>
                        <m:r>
                          <a:rPr lang="es-US" b="0" i="1" smtClean="0">
                            <a:latin typeface="Cambria Math"/>
                          </a:rPr>
                          <m:t>𝑇</m:t>
                        </m:r>
                      </m:e>
                    </m:d>
                  </m:oMath>
                </a14:m>
                <a:r>
                  <a:rPr lang="es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US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dirty="0" smtClean="0">
                            <a:latin typeface="Cambria Math"/>
                          </a:rPr>
                          <m:t>14</m:t>
                        </m:r>
                      </m:num>
                      <m:den>
                        <m:r>
                          <a:rPr lang="es-US" b="0" i="1" dirty="0" smtClean="0">
                            <a:latin typeface="Cambria Math"/>
                          </a:rPr>
                          <m:t>66</m:t>
                        </m:r>
                      </m:den>
                    </m:f>
                  </m:oMath>
                </a14:m>
                <a:r>
                  <a:rPr lang="es-US" dirty="0"/>
                  <a:t>    o</a:t>
                </a:r>
                <a14:m>
                  <m:oMath xmlns:m="http://schemas.openxmlformats.org/officeDocument/2006/math">
                    <m:r>
                      <a:rPr lang="es-US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US" i="1">
                            <a:latin typeface="Cambria Math"/>
                          </a:rPr>
                        </m:ctrlPr>
                      </m:dPr>
                      <m:e>
                        <m:r>
                          <a:rPr lang="es-US" i="1">
                            <a:latin typeface="Cambria Math"/>
                          </a:rPr>
                          <m:t>𝐶</m:t>
                        </m:r>
                        <m:r>
                          <a:rPr lang="es-US" i="1">
                            <a:latin typeface="Cambria Math"/>
                          </a:rPr>
                          <m:t>/</m:t>
                        </m:r>
                        <m:r>
                          <a:rPr lang="es-US" i="1">
                            <a:latin typeface="Cambria Math"/>
                          </a:rPr>
                          <m:t>𝑇</m:t>
                        </m:r>
                      </m:e>
                    </m:d>
                  </m:oMath>
                </a14:m>
                <a:r>
                  <a:rPr lang="es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US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s-US" i="1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s-US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US" i="1">
                                <a:latin typeface="Cambria Math"/>
                              </a:rPr>
                              <m:t>𝐶</m:t>
                            </m:r>
                            <m:r>
                              <a:rPr lang="es-US" i="1" smtClean="0">
                                <a:latin typeface="Cambria Math"/>
                                <a:ea typeface="Cambria Math"/>
                              </a:rPr>
                              <m:t>∩</m:t>
                            </m:r>
                            <m:r>
                              <a:rPr lang="es-US" i="1">
                                <a:latin typeface="Cambria Math"/>
                              </a:rPr>
                              <m:t>𝑇</m:t>
                            </m:r>
                          </m:e>
                        </m:d>
                      </m:num>
                      <m:den>
                        <m:r>
                          <a:rPr lang="es-US" b="0" i="1" dirty="0" smtClean="0">
                            <a:latin typeface="Cambria Math"/>
                          </a:rPr>
                          <m:t>𝑃</m:t>
                        </m:r>
                        <m:r>
                          <a:rPr lang="es-US" b="0" i="1" dirty="0" smtClean="0">
                            <a:latin typeface="Cambria Math"/>
                          </a:rPr>
                          <m:t>(</m:t>
                        </m:r>
                        <m:r>
                          <a:rPr lang="es-US" b="0" i="1" dirty="0" smtClean="0">
                            <a:latin typeface="Cambria Math"/>
                          </a:rPr>
                          <m:t>𝑇</m:t>
                        </m:r>
                        <m:r>
                          <a:rPr lang="es-US" b="0" i="1" dirty="0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s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US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US" b="0" i="1" smtClean="0">
                                <a:latin typeface="Cambria Math"/>
                              </a:rPr>
                              <m:t>14</m:t>
                            </m:r>
                          </m:num>
                          <m:den>
                            <m:r>
                              <a:rPr lang="es-US" i="1">
                                <a:latin typeface="Cambria Math"/>
                              </a:rPr>
                              <m:t>78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US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US" b="0" i="1" smtClean="0">
                                <a:latin typeface="Cambria Math"/>
                              </a:rPr>
                              <m:t>66</m:t>
                            </m:r>
                          </m:num>
                          <m:den>
                            <m:r>
                              <a:rPr lang="es-US" i="1">
                                <a:latin typeface="Cambria Math"/>
                              </a:rPr>
                              <m:t>78</m:t>
                            </m:r>
                          </m:den>
                        </m:f>
                      </m:den>
                    </m:f>
                    <m:r>
                      <a:rPr lang="es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14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66</m:t>
                        </m:r>
                      </m:den>
                    </m:f>
                  </m:oMath>
                </a14:m>
                <a:endParaRPr lang="es-US" dirty="0"/>
              </a:p>
            </p:txBody>
          </p:sp>
        </mc:Choice>
        <mc:Fallback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28" y="4509120"/>
                <a:ext cx="5124352" cy="1747401"/>
              </a:xfrm>
              <a:prstGeom prst="rect">
                <a:avLst/>
              </a:prstGeom>
              <a:blipFill rotWithShape="1">
                <a:blip r:embed="rId6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1 Rectángulo"/>
          <p:cNvSpPr/>
          <p:nvPr/>
        </p:nvSpPr>
        <p:spPr>
          <a:xfrm>
            <a:off x="395536" y="4046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dirty="0"/>
              <a:t>b) Si se seleccionan cuatro estudiantes al azar del turno noche, cuál es la </a:t>
            </a:r>
            <a:r>
              <a:rPr lang="es-US" dirty="0" smtClean="0"/>
              <a:t>probabilidad </a:t>
            </a:r>
            <a:r>
              <a:rPr lang="es-US" dirty="0"/>
              <a:t>de que dos no tengan trabajo y dos sí.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20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413027"/>
                  </p:ext>
                </p:extLst>
              </p:nvPr>
            </p:nvGraphicFramePr>
            <p:xfrm>
              <a:off x="5724128" y="1031094"/>
              <a:ext cx="2088230" cy="15927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"/>
                    <a:gridCol w="417646"/>
                    <a:gridCol w="417646"/>
                    <a:gridCol w="417646"/>
                    <a:gridCol w="417646"/>
                  </a:tblGrid>
                  <a:tr h="293752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A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B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C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/>
                    </a:tc>
                  </a:tr>
                  <a:tr h="3346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s-US" b="0" i="0" smtClean="0">
                                    <a:latin typeface="Cambria Math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es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32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20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14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66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346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US" i="1" dirty="0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US" b="0" i="0" dirty="0" smtClean="0">
                                        <a:latin typeface="Cambria Math"/>
                                      </a:rPr>
                                      <m:t>T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4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12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95511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25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18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78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20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2656413027"/>
                  </p:ext>
                </p:extLst>
              </p:nvPr>
            </p:nvGraphicFramePr>
            <p:xfrm>
              <a:off x="5724128" y="1031094"/>
              <a:ext cx="2088230" cy="15927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"/>
                    <a:gridCol w="417646"/>
                    <a:gridCol w="417646"/>
                    <a:gridCol w="417646"/>
                    <a:gridCol w="41764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A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B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C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449" t="-108333" r="-397101" b="-2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32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20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14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00B050"/>
                              </a:solidFill>
                            </a:rPr>
                            <a:t>66</a:t>
                          </a:r>
                          <a:endParaRPr lang="es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449" t="-208333" r="-397101" b="-1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4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12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95511">
                    <a:tc>
                      <a:txBody>
                        <a:bodyPr/>
                        <a:lstStyle/>
                        <a:p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35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25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/>
                            <a:t>18</a:t>
                          </a:r>
                          <a:endParaRPr lang="es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US" dirty="0" smtClean="0">
                              <a:solidFill>
                                <a:srgbClr val="FF0000"/>
                              </a:solidFill>
                            </a:rPr>
                            <a:t>78</a:t>
                          </a:r>
                          <a:endParaRPr lang="es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1331640" y="1772816"/>
                <a:ext cx="1949893" cy="485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s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US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US" b="0" i="1" smtClean="0">
                                <a:latin typeface="Cambria Math"/>
                              </a:rPr>
                              <m:t>𝑇</m:t>
                            </m:r>
                          </m:e>
                        </m:acc>
                      </m:e>
                    </m:d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12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78</m:t>
                        </m:r>
                      </m:den>
                    </m:f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13</m:t>
                        </m:r>
                      </m:den>
                    </m:f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1772816"/>
                <a:ext cx="1949893" cy="485902"/>
              </a:xfrm>
              <a:prstGeom prst="rect">
                <a:avLst/>
              </a:prstGeom>
              <a:blipFill rotWithShape="1">
                <a:blip r:embed="rId3"/>
                <a:stretch>
                  <a:fillRect l="-1875" b="-250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21 CuadroTexto"/>
              <p:cNvSpPr txBox="1"/>
              <p:nvPr/>
            </p:nvSpPr>
            <p:spPr>
              <a:xfrm>
                <a:off x="1331640" y="1050995"/>
                <a:ext cx="1949893" cy="485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s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US" b="0" i="1" smtClean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66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78</m:t>
                        </m:r>
                      </m:den>
                    </m:f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11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13</m:t>
                        </m:r>
                      </m:den>
                    </m:f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1050995"/>
                <a:ext cx="1949893" cy="485902"/>
              </a:xfrm>
              <a:prstGeom prst="rect">
                <a:avLst/>
              </a:prstGeom>
              <a:blipFill rotWithShape="1">
                <a:blip r:embed="rId4"/>
                <a:stretch>
                  <a:fillRect l="-1875" b="-250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395536" y="3501008"/>
                <a:ext cx="15883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/>
                        </a:rPr>
                        <m:t>𝑇</m:t>
                      </m:r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∩</m:t>
                      </m:r>
                      <m:acc>
                        <m:accPr>
                          <m:chr m:val="̅"/>
                          <m:ctrlPr>
                            <a:rPr lang="es-US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s-US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e>
                      </m:acc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∩</m:t>
                      </m:r>
                      <m:acc>
                        <m:accPr>
                          <m:chr m:val="̅"/>
                          <m:ctrlPr>
                            <a:rPr lang="es-US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s-US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501008"/>
                <a:ext cx="1588319" cy="369332"/>
              </a:xfrm>
              <a:prstGeom prst="rect">
                <a:avLst/>
              </a:prstGeom>
              <a:blipFill rotWithShape="1">
                <a:blip r:embed="rId5"/>
                <a:stretch>
                  <a:fillRect r="-1307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337" name="14336 Grupo"/>
          <p:cNvGrpSpPr/>
          <p:nvPr/>
        </p:nvGrpSpPr>
        <p:grpSpPr>
          <a:xfrm>
            <a:off x="1983855" y="3068960"/>
            <a:ext cx="2975215" cy="2241540"/>
            <a:chOff x="1983855" y="3068960"/>
            <a:chExt cx="2975215" cy="2241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3 CuadroTexto"/>
                <p:cNvSpPr txBox="1"/>
                <p:nvPr/>
              </p:nvSpPr>
              <p:spPr>
                <a:xfrm>
                  <a:off x="3059832" y="3068960"/>
                  <a:ext cx="18992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US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s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US" i="1" smtClean="0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US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s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s-US" i="1" smtClean="0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US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accPr>
                              <m:e>
                                <m:r>
                                  <a:rPr lang="es-US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s-US" i="1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US" i="1">
                                    <a:latin typeface="Cambria Math"/>
                                    <a:ea typeface="Cambria Math"/>
                                  </a:rPr>
                                </m:ctrlPr>
                              </m:accPr>
                              <m:e>
                                <m:r>
                                  <a:rPr lang="es-US" i="1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4" name="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32" y="3068960"/>
                  <a:ext cx="189923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r="-4823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26 CuadroTexto"/>
                <p:cNvSpPr txBox="1"/>
                <p:nvPr/>
              </p:nvSpPr>
              <p:spPr>
                <a:xfrm>
                  <a:off x="3059832" y="3563724"/>
                  <a:ext cx="18347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US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s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US" i="1" smtClean="0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US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accPr>
                              <m:e>
                                <m:r>
                                  <a:rPr lang="es-US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s-US" i="1" smtClean="0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s-US" i="1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US" i="1">
                                    <a:latin typeface="Cambria Math"/>
                                    <a:ea typeface="Cambria Math"/>
                                  </a:rPr>
                                </m:ctrlPr>
                              </m:accPr>
                              <m:e>
                                <m:r>
                                  <a:rPr lang="es-US" i="1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27" name="26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32" y="3563724"/>
                  <a:ext cx="1834798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r="-8306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7 Conector recto de flecha"/>
            <p:cNvCxnSpPr>
              <a:stCxn id="6" idx="3"/>
              <a:endCxn id="4" idx="1"/>
            </p:cNvCxnSpPr>
            <p:nvPr/>
          </p:nvCxnSpPr>
          <p:spPr>
            <a:xfrm flipV="1">
              <a:off x="1983855" y="3253626"/>
              <a:ext cx="1075977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>
              <a:stCxn id="6" idx="3"/>
              <a:endCxn id="27" idx="1"/>
            </p:cNvCxnSpPr>
            <p:nvPr/>
          </p:nvCxnSpPr>
          <p:spPr>
            <a:xfrm>
              <a:off x="1983855" y="3685674"/>
              <a:ext cx="1075977" cy="627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10 CuadroTexto"/>
            <p:cNvSpPr txBox="1"/>
            <p:nvPr/>
          </p:nvSpPr>
          <p:spPr>
            <a:xfrm>
              <a:off x="3059832" y="4365104"/>
              <a:ext cx="1728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dirty="0" smtClean="0"/>
                <a:t>………………………..</a:t>
              </a:r>
              <a:endParaRPr lang="es-US" dirty="0"/>
            </a:p>
          </p:txBody>
        </p:sp>
        <p:cxnSp>
          <p:nvCxnSpPr>
            <p:cNvPr id="23" name="22 Conector recto de flecha"/>
            <p:cNvCxnSpPr>
              <a:stCxn id="6" idx="3"/>
            </p:cNvCxnSpPr>
            <p:nvPr/>
          </p:nvCxnSpPr>
          <p:spPr>
            <a:xfrm>
              <a:off x="1983855" y="3685674"/>
              <a:ext cx="931961" cy="6480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29 Conector recto de flecha"/>
            <p:cNvCxnSpPr>
              <a:stCxn id="6" idx="3"/>
            </p:cNvCxnSpPr>
            <p:nvPr/>
          </p:nvCxnSpPr>
          <p:spPr>
            <a:xfrm>
              <a:off x="1983855" y="3685674"/>
              <a:ext cx="931961" cy="12554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34 CuadroTexto"/>
                <p:cNvSpPr txBox="1"/>
                <p:nvPr/>
              </p:nvSpPr>
              <p:spPr>
                <a:xfrm>
                  <a:off x="2987824" y="4941168"/>
                  <a:ext cx="19505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US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US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s-US" b="0" i="1" smtClean="0">
                                    <a:latin typeface="Cambria Math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s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US" i="1" smtClean="0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US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accPr>
                              <m:e>
                                <m:r>
                                  <a:rPr lang="es-US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s-US" i="1" smtClean="0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s-US" i="1"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s-US" b="0" i="1" smtClean="0">
                                <a:latin typeface="Cambria Math"/>
                                <a:ea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35" name="3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824" y="4941168"/>
                  <a:ext cx="195053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30 Cerrar llave"/>
          <p:cNvSpPr/>
          <p:nvPr/>
        </p:nvSpPr>
        <p:spPr>
          <a:xfrm>
            <a:off x="5148064" y="3068960"/>
            <a:ext cx="792088" cy="23762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4336" name="14335 CuadroTexto"/>
          <p:cNvSpPr txBox="1"/>
          <p:nvPr/>
        </p:nvSpPr>
        <p:spPr>
          <a:xfrm>
            <a:off x="6228184" y="4077072"/>
            <a:ext cx="2006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6 formas diferentes</a:t>
            </a:r>
            <a:endParaRPr lang="es-US" dirty="0"/>
          </a:p>
        </p:txBody>
      </p:sp>
      <p:sp>
        <p:nvSpPr>
          <p:cNvPr id="14340" name="14339 CuadroTexto"/>
          <p:cNvSpPr txBox="1"/>
          <p:nvPr/>
        </p:nvSpPr>
        <p:spPr>
          <a:xfrm>
            <a:off x="338661" y="4128755"/>
            <a:ext cx="1645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independientes</a:t>
            </a:r>
            <a:endParaRPr lang="es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14340 CuadroTexto"/>
              <p:cNvSpPr txBox="1"/>
              <p:nvPr/>
            </p:nvSpPr>
            <p:spPr>
              <a:xfrm>
                <a:off x="1161258" y="5445224"/>
                <a:ext cx="3410742" cy="48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dirty="0" smtClean="0"/>
                  <a:t>P(</a:t>
                </a:r>
                <a14:m>
                  <m:oMath xmlns:m="http://schemas.openxmlformats.org/officeDocument/2006/math">
                    <m:r>
                      <a:rPr lang="es-US" i="1">
                        <a:latin typeface="Cambria Math"/>
                      </a:rPr>
                      <m:t>𝑇</m:t>
                    </m:r>
                    <m:r>
                      <a:rPr lang="es-US" i="1">
                        <a:latin typeface="Cambria Math"/>
                        <a:ea typeface="Cambria Math"/>
                      </a:rPr>
                      <m:t>∩</m:t>
                    </m:r>
                    <m:r>
                      <a:rPr lang="es-US" i="1">
                        <a:latin typeface="Cambria Math"/>
                        <a:ea typeface="Cambria Math"/>
                      </a:rPr>
                      <m:t>𝑇</m:t>
                    </m:r>
                    <m:r>
                      <a:rPr lang="es-US" i="1">
                        <a:latin typeface="Cambria Math"/>
                        <a:ea typeface="Cambria Math"/>
                      </a:rPr>
                      <m:t>∩</m:t>
                    </m:r>
                    <m:acc>
                      <m:accPr>
                        <m:chr m:val="̅"/>
                        <m:ctrlPr>
                          <a:rPr lang="es-US" i="1"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r>
                          <a:rPr lang="es-US" i="1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</m:acc>
                    <m:r>
                      <a:rPr lang="es-US" i="1">
                        <a:latin typeface="Cambria Math"/>
                        <a:ea typeface="Cambria Math"/>
                      </a:rPr>
                      <m:t>∩</m:t>
                    </m:r>
                    <m:acc>
                      <m:accPr>
                        <m:chr m:val="̅"/>
                        <m:ctrlPr>
                          <a:rPr lang="es-US" i="1"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r>
                          <a:rPr lang="es-US" i="1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</m:acc>
                  </m:oMath>
                </a14:m>
                <a:r>
                  <a:rPr lang="es-US" dirty="0" smtClean="0"/>
                  <a:t>)=6.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US" i="1">
                            <a:latin typeface="Cambria Math"/>
                          </a:rPr>
                          <m:t>11</m:t>
                        </m:r>
                      </m:num>
                      <m:den>
                        <m:r>
                          <a:rPr lang="es-US" i="1">
                            <a:latin typeface="Cambria Math"/>
                          </a:rPr>
                          <m:t>13</m:t>
                        </m:r>
                      </m:den>
                    </m:f>
                    <m:r>
                      <a:rPr lang="es-US" b="0" i="0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US" i="1">
                            <a:latin typeface="Cambria Math"/>
                          </a:rPr>
                          <m:t>11</m:t>
                        </m:r>
                      </m:num>
                      <m:den>
                        <m:r>
                          <a:rPr lang="es-US" i="1">
                            <a:latin typeface="Cambria Math"/>
                          </a:rPr>
                          <m:t>13</m:t>
                        </m:r>
                      </m:den>
                    </m:f>
                    <m:r>
                      <a:rPr lang="es-US" b="0" i="0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US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s-US" i="1">
                            <a:latin typeface="Cambria Math"/>
                          </a:rPr>
                          <m:t>13</m:t>
                        </m:r>
                      </m:den>
                    </m:f>
                    <m:r>
                      <a:rPr lang="es-US" b="0" i="1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US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s-US" i="1">
                            <a:latin typeface="Cambria Math"/>
                          </a:rPr>
                          <m:t>13</m:t>
                        </m:r>
                      </m:den>
                    </m:f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14341" name="1434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58" y="5445224"/>
                <a:ext cx="3410742" cy="484876"/>
              </a:xfrm>
              <a:prstGeom prst="rect">
                <a:avLst/>
              </a:prstGeom>
              <a:blipFill rotWithShape="1">
                <a:blip r:embed="rId9"/>
                <a:stretch>
                  <a:fillRect l="-1429" b="-750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4 Llamada rectangular redondeada"/>
          <p:cNvSpPr/>
          <p:nvPr/>
        </p:nvSpPr>
        <p:spPr>
          <a:xfrm>
            <a:off x="3635896" y="1050995"/>
            <a:ext cx="1908212" cy="577805"/>
          </a:xfrm>
          <a:prstGeom prst="wedgeRoundRectCallout">
            <a:avLst>
              <a:gd name="adj1" fmla="val -68752"/>
              <a:gd name="adj2" fmla="val -10347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>
                <a:solidFill>
                  <a:schemeClr val="tx1"/>
                </a:solidFill>
              </a:rPr>
              <a:t>Probabilidad de que </a:t>
            </a:r>
            <a:r>
              <a:rPr lang="es-US" sz="1200" b="1" dirty="0" smtClean="0">
                <a:solidFill>
                  <a:srgbClr val="FF0000"/>
                </a:solidFill>
              </a:rPr>
              <a:t>1</a:t>
            </a:r>
            <a:r>
              <a:rPr lang="es-US" sz="1200" dirty="0" smtClean="0">
                <a:solidFill>
                  <a:schemeClr val="tx1"/>
                </a:solidFill>
              </a:rPr>
              <a:t> estudiante elegido al azar Trabaje</a:t>
            </a:r>
            <a:endParaRPr lang="es-US" sz="1200" dirty="0">
              <a:solidFill>
                <a:schemeClr val="tx1"/>
              </a:solidFill>
            </a:endParaRPr>
          </a:p>
        </p:txBody>
      </p:sp>
      <p:sp>
        <p:nvSpPr>
          <p:cNvPr id="24" name="23 Llamada rectangular redondeada"/>
          <p:cNvSpPr/>
          <p:nvPr/>
        </p:nvSpPr>
        <p:spPr>
          <a:xfrm>
            <a:off x="3788296" y="2059107"/>
            <a:ext cx="1908212" cy="577805"/>
          </a:xfrm>
          <a:prstGeom prst="wedgeRoundRectCallout">
            <a:avLst>
              <a:gd name="adj1" fmla="val -79401"/>
              <a:gd name="adj2" fmla="val -55563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>
                <a:solidFill>
                  <a:schemeClr val="tx1"/>
                </a:solidFill>
              </a:rPr>
              <a:t>Probabilidad de que </a:t>
            </a:r>
            <a:r>
              <a:rPr lang="es-US" sz="1200" b="1" dirty="0" smtClean="0">
                <a:solidFill>
                  <a:srgbClr val="FF0000"/>
                </a:solidFill>
              </a:rPr>
              <a:t>1</a:t>
            </a:r>
            <a:r>
              <a:rPr lang="es-US" sz="1200" dirty="0" smtClean="0">
                <a:solidFill>
                  <a:schemeClr val="tx1"/>
                </a:solidFill>
              </a:rPr>
              <a:t> estudiante elegido al azar No Trabaje</a:t>
            </a:r>
            <a:endParaRPr lang="es-US" sz="1200" dirty="0">
              <a:solidFill>
                <a:schemeClr val="tx1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38661" y="2708920"/>
            <a:ext cx="3586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Se seleccionan 4 estudiantes al azar:</a:t>
            </a:r>
            <a:endParaRPr lang="es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3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6" grpId="0"/>
      <p:bldP spid="31" grpId="0" animBg="1"/>
      <p:bldP spid="14336" grpId="0"/>
      <p:bldP spid="14340" grpId="0"/>
      <p:bldP spid="14341" grpId="0"/>
      <p:bldP spid="5" grpId="0" animBg="1"/>
      <p:bldP spid="24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/>
          <p:nvPr/>
        </p:nvSpPr>
        <p:spPr>
          <a:xfrm>
            <a:off x="4127997" y="3042248"/>
            <a:ext cx="4986975" cy="17641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" name="8 CuadroTexto"/>
          <p:cNvSpPr txBox="1"/>
          <p:nvPr/>
        </p:nvSpPr>
        <p:spPr>
          <a:xfrm>
            <a:off x="1115616" y="330196"/>
            <a:ext cx="6082819" cy="92333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s-US" dirty="0" err="1"/>
              <a:t>Ej</a:t>
            </a:r>
            <a:r>
              <a:rPr lang="es-US" dirty="0"/>
              <a:t> 5 Dados A y B, deducir, ¿</a:t>
            </a:r>
            <a:r>
              <a:rPr lang="es-US" dirty="0" smtClean="0"/>
              <a:t>cómo </a:t>
            </a:r>
            <a:r>
              <a:rPr lang="es-US" dirty="0"/>
              <a:t>queda expresada la P(A|B) si: </a:t>
            </a:r>
            <a:endParaRPr lang="es-US" dirty="0" smtClean="0"/>
          </a:p>
          <a:p>
            <a:pPr marL="342900" indent="-342900">
              <a:buAutoNum type="alphaLcParenR"/>
            </a:pPr>
            <a:r>
              <a:rPr lang="es-US" dirty="0" smtClean="0"/>
              <a:t>A </a:t>
            </a:r>
            <a:r>
              <a:rPr lang="es-US" dirty="0"/>
              <a:t>es un subconjunto de B? </a:t>
            </a:r>
          </a:p>
          <a:p>
            <a:pPr marL="342900" indent="-342900">
              <a:buAutoNum type="alphaLcParenR"/>
            </a:pPr>
            <a:r>
              <a:rPr lang="es-US" dirty="0" smtClean="0"/>
              <a:t>A </a:t>
            </a:r>
            <a:r>
              <a:rPr lang="es-US" dirty="0"/>
              <a:t>y B son independientes?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CuadroTexto"/>
              <p:cNvSpPr txBox="1"/>
              <p:nvPr/>
            </p:nvSpPr>
            <p:spPr>
              <a:xfrm>
                <a:off x="35496" y="1519418"/>
                <a:ext cx="24591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a) </a:t>
                </a:r>
                <a14:m>
                  <m:oMath xmlns:m="http://schemas.openxmlformats.org/officeDocument/2006/math">
                    <m:r>
                      <a:rPr lang="es-US" b="0" i="1" smtClean="0">
                        <a:latin typeface="Cambria Math"/>
                      </a:rPr>
                      <m:t>𝐴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𝑒𝑠𝑡</m:t>
                    </m:r>
                    <m:r>
                      <a:rPr lang="es-US" b="0" i="1" smtClean="0">
                        <a:latin typeface="Cambria Math"/>
                      </a:rPr>
                      <m:t>á </m:t>
                    </m:r>
                    <m:r>
                      <a:rPr lang="es-US" b="0" i="1" smtClean="0">
                        <a:latin typeface="Cambria Math"/>
                      </a:rPr>
                      <m:t>𝑖𝑛𝑐𝑙𝑢𝑖𝑑𝑜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𝑒𝑛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𝐵</m:t>
                    </m:r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2" name="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1519418"/>
                <a:ext cx="245919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233" t="-8197" b="-2459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1137099" y="2157827"/>
                <a:ext cx="1253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/>
                        </a:rPr>
                        <m:t>𝐴</m:t>
                      </m:r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𝐵</m:t>
                      </m:r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s-US" b="0" i="1" smtClean="0">
                          <a:latin typeface="Cambria Math"/>
                          <a:ea typeface="Cambria Math"/>
                        </a:rPr>
                        <m:t>𝐴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99" y="2157827"/>
                <a:ext cx="12533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12 Grupo"/>
          <p:cNvGrpSpPr/>
          <p:nvPr/>
        </p:nvGrpSpPr>
        <p:grpSpPr>
          <a:xfrm>
            <a:off x="4379334" y="1298980"/>
            <a:ext cx="3530824" cy="1656184"/>
            <a:chOff x="4499992" y="1844824"/>
            <a:chExt cx="3530824" cy="1656184"/>
          </a:xfrm>
        </p:grpSpPr>
        <p:sp>
          <p:nvSpPr>
            <p:cNvPr id="4" name="3 Rectángulo"/>
            <p:cNvSpPr/>
            <p:nvPr/>
          </p:nvSpPr>
          <p:spPr>
            <a:xfrm>
              <a:off x="4499992" y="1844824"/>
              <a:ext cx="3528392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5" name="4 Elipse"/>
            <p:cNvSpPr/>
            <p:nvPr/>
          </p:nvSpPr>
          <p:spPr>
            <a:xfrm>
              <a:off x="4788024" y="2173506"/>
              <a:ext cx="2808312" cy="11207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6" name="5 Elipse"/>
            <p:cNvSpPr/>
            <p:nvPr/>
          </p:nvSpPr>
          <p:spPr>
            <a:xfrm>
              <a:off x="5364088" y="2492896"/>
              <a:ext cx="1152128" cy="61671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5364088" y="267291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dirty="0" smtClean="0"/>
                <a:t>A</a:t>
              </a:r>
              <a:endParaRPr lang="es-US" dirty="0"/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7142620" y="2358172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dirty="0" smtClean="0"/>
                <a:t>B</a:t>
              </a:r>
              <a:endParaRPr lang="es-US" dirty="0"/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7740352" y="1844824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dirty="0" smtClean="0"/>
                <a:t>S</a:t>
              </a:r>
              <a:endParaRPr lang="es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CuadroTexto"/>
              <p:cNvSpPr txBox="1"/>
              <p:nvPr/>
            </p:nvSpPr>
            <p:spPr>
              <a:xfrm>
                <a:off x="665034" y="2707701"/>
                <a:ext cx="2975686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US" b="0" i="0" smtClean="0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A</m:t>
                          </m:r>
                          <m:r>
                            <a:rPr lang="es-US" b="0" i="0" smtClean="0">
                              <a:latin typeface="Cambria Math"/>
                            </a:rPr>
                            <m:t>/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s-US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US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US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US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  <m:r>
                            <a:rPr lang="es-US" b="0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s-US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US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s-US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US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34" y="2707701"/>
                <a:ext cx="2975686" cy="66909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CuadroTexto"/>
              <p:cNvSpPr txBox="1"/>
              <p:nvPr/>
            </p:nvSpPr>
            <p:spPr>
              <a:xfrm>
                <a:off x="5555663" y="3396770"/>
                <a:ext cx="14662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B</m:t>
                        </m:r>
                        <m:r>
                          <a:rPr lang="es-US" b="0" i="0" smtClean="0">
                            <a:latin typeface="Cambria Math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A</m:t>
                        </m:r>
                      </m:e>
                    </m:d>
                    <m:r>
                      <a:rPr lang="es-US" b="0" i="0" smtClean="0">
                        <a:latin typeface="Cambria Math"/>
                      </a:rPr>
                      <m:t>=</m:t>
                    </m:r>
                  </m:oMath>
                </a14:m>
                <a:r>
                  <a:rPr lang="es-US" dirty="0" smtClean="0"/>
                  <a:t>???</a:t>
                </a:r>
                <a:endParaRPr lang="es-US" dirty="0"/>
              </a:p>
            </p:txBody>
          </p:sp>
        </mc:Choice>
        <mc:Fallback xmlns=""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663" y="3396770"/>
                <a:ext cx="146629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3320" b="-2459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4427984" y="4077072"/>
                <a:ext cx="4130233" cy="5335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b="0" dirty="0" smtClean="0"/>
                  <a:t>Por fórmula: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B</m:t>
                        </m:r>
                        <m:r>
                          <a:rPr lang="es-US" b="0" i="0" smtClean="0">
                            <a:latin typeface="Cambria Math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A</m:t>
                        </m:r>
                      </m:e>
                    </m:d>
                    <m:r>
                      <a:rPr lang="es-US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𝐴</m:t>
                        </m:r>
                        <m:r>
                          <a:rPr lang="es-US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US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s-US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𝐴</m:t>
                        </m:r>
                        <m:r>
                          <a:rPr lang="es-US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𝐴</m:t>
                        </m:r>
                        <m:r>
                          <a:rPr lang="es-US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𝐴</m:t>
                        </m:r>
                        <m:r>
                          <a:rPr lang="es-US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s-US" b="0" i="1" smtClean="0">
                        <a:latin typeface="Cambria Math"/>
                      </a:rPr>
                      <m:t>=1</m:t>
                    </m:r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077072"/>
                <a:ext cx="4130233" cy="533544"/>
              </a:xfrm>
              <a:prstGeom prst="rect">
                <a:avLst/>
              </a:prstGeom>
              <a:blipFill rotWithShape="1">
                <a:blip r:embed="rId6"/>
                <a:stretch>
                  <a:fillRect l="-1180" b="-689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5 CuadroTexto"/>
          <p:cNvSpPr txBox="1"/>
          <p:nvPr/>
        </p:nvSpPr>
        <p:spPr>
          <a:xfrm>
            <a:off x="5018294" y="3131676"/>
            <a:ext cx="609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err="1" smtClean="0"/>
              <a:t>Obs</a:t>
            </a:r>
            <a:r>
              <a:rPr lang="es-US" dirty="0" smtClean="0"/>
              <a:t>:</a:t>
            </a:r>
            <a:endParaRPr lang="es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26 CuadroTexto"/>
              <p:cNvSpPr txBox="1"/>
              <p:nvPr/>
            </p:nvSpPr>
            <p:spPr>
              <a:xfrm>
                <a:off x="35496" y="4437112"/>
                <a:ext cx="3043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b) </a:t>
                </a:r>
                <a14:m>
                  <m:oMath xmlns:m="http://schemas.openxmlformats.org/officeDocument/2006/math">
                    <m:r>
                      <a:rPr lang="es-US" b="0" i="1" smtClean="0">
                        <a:latin typeface="Cambria Math"/>
                      </a:rPr>
                      <m:t>𝐴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𝑦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𝐵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𝑠𝑜𝑛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𝑖𝑛𝑑𝑒𝑝𝑒𝑛𝑑𝑖𝑒𝑛𝑡𝑒𝑠</m:t>
                    </m:r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4437112"/>
                <a:ext cx="3043141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804" t="-8333" b="-26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27 CuadroTexto"/>
              <p:cNvSpPr txBox="1"/>
              <p:nvPr/>
            </p:nvSpPr>
            <p:spPr>
              <a:xfrm>
                <a:off x="827584" y="4941168"/>
                <a:ext cx="14662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A</m:t>
                        </m:r>
                        <m:r>
                          <a:rPr lang="es-US" b="0" i="0" smtClean="0">
                            <a:latin typeface="Cambria Math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B</m:t>
                        </m:r>
                      </m:e>
                    </m:d>
                    <m:r>
                      <a:rPr lang="es-US" b="0" i="0" smtClean="0">
                        <a:latin typeface="Cambria Math"/>
                      </a:rPr>
                      <m:t>=</m:t>
                    </m:r>
                  </m:oMath>
                </a14:m>
                <a:r>
                  <a:rPr lang="es-US" dirty="0" smtClean="0"/>
                  <a:t>???</a:t>
                </a:r>
                <a:endParaRPr lang="es-US" dirty="0"/>
              </a:p>
            </p:txBody>
          </p:sp>
        </mc:Choice>
        <mc:Fallback xmlns=""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941168"/>
                <a:ext cx="1466299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3333" b="-26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28 CuadroTexto"/>
              <p:cNvSpPr txBox="1"/>
              <p:nvPr/>
            </p:nvSpPr>
            <p:spPr>
              <a:xfrm>
                <a:off x="755576" y="5445224"/>
                <a:ext cx="1729191" cy="369332"/>
              </a:xfrm>
              <a:prstGeom prst="rect">
                <a:avLst/>
              </a:prstGeom>
              <a:noFill/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US" b="0" i="0" smtClean="0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A</m:t>
                          </m:r>
                          <m:r>
                            <a:rPr lang="es-US" b="0" i="0" smtClean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B</m:t>
                          </m:r>
                        </m:e>
                      </m:d>
                      <m:r>
                        <a:rPr lang="es-US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US" b="0" i="0" smtClean="0">
                          <a:latin typeface="Cambria Math"/>
                        </a:rPr>
                        <m:t>P</m:t>
                      </m:r>
                      <m:r>
                        <a:rPr lang="es-US" b="0" i="0" smtClean="0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US" b="0" i="0" smtClean="0">
                          <a:latin typeface="Cambria Math"/>
                        </a:rPr>
                        <m:t>A</m:t>
                      </m:r>
                      <m:r>
                        <a:rPr lang="es-US" b="0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>
          <p:sp>
            <p:nvSpPr>
              <p:cNvPr id="29" name="2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445224"/>
                <a:ext cx="1729191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7692"/>
                </a:stretch>
              </a:blipFill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29 CuadroTexto"/>
              <p:cNvSpPr txBox="1"/>
              <p:nvPr/>
            </p:nvSpPr>
            <p:spPr>
              <a:xfrm>
                <a:off x="755576" y="6021288"/>
                <a:ext cx="4595810" cy="5406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/>
                  <a:t>A</a:t>
                </a:r>
                <a:r>
                  <a:rPr lang="es-US" dirty="0" smtClean="0"/>
                  <a:t>demás: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A</m:t>
                        </m:r>
                        <m:r>
                          <a:rPr lang="es-US" b="0" i="0" smtClean="0">
                            <a:latin typeface="Cambria Math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B</m:t>
                        </m:r>
                      </m:e>
                    </m:d>
                    <m:r>
                      <a:rPr lang="es-US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𝐴</m:t>
                        </m:r>
                        <m:r>
                          <a:rPr lang="es-US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s-US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s-US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𝐵</m:t>
                        </m:r>
                        <m:r>
                          <a:rPr lang="es-US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s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s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US" b="0" i="1" smtClean="0">
                                <a:latin typeface="Cambria Math"/>
                              </a:rPr>
                              <m:t>𝐴</m:t>
                            </m:r>
                          </m:e>
                        </m:d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𝐵</m:t>
                        </m:r>
                        <m:r>
                          <a:rPr lang="es-US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𝑃</m:t>
                        </m:r>
                        <m:r>
                          <a:rPr lang="es-US" b="0" i="1" smtClean="0">
                            <a:latin typeface="Cambria Math"/>
                          </a:rPr>
                          <m:t>(</m:t>
                        </m:r>
                        <m:r>
                          <a:rPr lang="es-US" b="0" i="1" smtClean="0">
                            <a:latin typeface="Cambria Math"/>
                          </a:rPr>
                          <m:t>𝐵</m:t>
                        </m:r>
                        <m:r>
                          <a:rPr lang="es-US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s-US" b="0" i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P</m:t>
                    </m:r>
                    <m:r>
                      <a:rPr lang="es-US" b="0" i="0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A</m:t>
                    </m:r>
                    <m:r>
                      <a:rPr lang="es-US" b="0" i="0" smtClean="0">
                        <a:latin typeface="Cambria Math"/>
                      </a:rPr>
                      <m:t>)</m:t>
                    </m:r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30" name="2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6021288"/>
                <a:ext cx="4595810" cy="540661"/>
              </a:xfrm>
              <a:prstGeom prst="rect">
                <a:avLst/>
              </a:prstGeom>
              <a:blipFill rotWithShape="1">
                <a:blip r:embed="rId10"/>
                <a:stretch>
                  <a:fillRect l="-1194" b="-681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30 Rectángulo"/>
          <p:cNvSpPr/>
          <p:nvPr/>
        </p:nvSpPr>
        <p:spPr>
          <a:xfrm>
            <a:off x="3001805" y="2635131"/>
            <a:ext cx="562083" cy="7933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31 CuadroTexto"/>
              <p:cNvSpPr txBox="1"/>
              <p:nvPr/>
            </p:nvSpPr>
            <p:spPr>
              <a:xfrm>
                <a:off x="5580112" y="3779748"/>
                <a:ext cx="13893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US" b="0" i="0" smtClean="0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B</m:t>
                          </m:r>
                          <m:r>
                            <a:rPr lang="es-US" b="0" i="0" smtClean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A</m:t>
                          </m:r>
                        </m:e>
                      </m:d>
                      <m:r>
                        <a:rPr lang="es-US" b="0" i="0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32" name="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3779748"/>
                <a:ext cx="1389355" cy="369332"/>
              </a:xfrm>
              <a:prstGeom prst="rect">
                <a:avLst/>
              </a:prstGeom>
              <a:blipFill rotWithShape="1"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Llamada rectangular redondeada"/>
          <p:cNvSpPr/>
          <p:nvPr/>
        </p:nvSpPr>
        <p:spPr>
          <a:xfrm>
            <a:off x="7524328" y="3131676"/>
            <a:ext cx="1524306" cy="648072"/>
          </a:xfrm>
          <a:prstGeom prst="wedgeRoundRectCallout">
            <a:avLst>
              <a:gd name="adj1" fmla="val -89390"/>
              <a:gd name="adj2" fmla="val 6698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/>
              <a:t>Siempre que ocurra A, ocurrirá B</a:t>
            </a:r>
            <a:endParaRPr lang="es-US" sz="1200" dirty="0"/>
          </a:p>
        </p:txBody>
      </p:sp>
      <p:sp>
        <p:nvSpPr>
          <p:cNvPr id="33" name="32 Llamada rectangular redondeada"/>
          <p:cNvSpPr/>
          <p:nvPr/>
        </p:nvSpPr>
        <p:spPr>
          <a:xfrm>
            <a:off x="3556852" y="4914506"/>
            <a:ext cx="1644964" cy="845238"/>
          </a:xfrm>
          <a:prstGeom prst="wedgeRoundRectCallout">
            <a:avLst>
              <a:gd name="adj1" fmla="val -120832"/>
              <a:gd name="adj2" fmla="val 2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/>
              <a:t>La ocurrencia de B, no modifica la probabilidad de que ocurra A</a:t>
            </a:r>
            <a:endParaRPr lang="es-US" sz="1200" dirty="0"/>
          </a:p>
        </p:txBody>
      </p:sp>
      <p:cxnSp>
        <p:nvCxnSpPr>
          <p:cNvPr id="14" name="13 Conector recto"/>
          <p:cNvCxnSpPr/>
          <p:nvPr/>
        </p:nvCxnSpPr>
        <p:spPr>
          <a:xfrm>
            <a:off x="395536" y="4806444"/>
            <a:ext cx="2606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>
            <a:off x="1698670" y="4806444"/>
            <a:ext cx="2266872" cy="12148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5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/>
      <p:bldP spid="3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10" grpId="0" animBg="1"/>
      <p:bldP spid="33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704</Words>
  <Application>Microsoft Office PowerPoint</Application>
  <PresentationFormat>Presentación en pantalla (4:3)</PresentationFormat>
  <Paragraphs>97</Paragraphs>
  <Slides>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Salaberry</dc:creator>
  <cp:lastModifiedBy>Andrea</cp:lastModifiedBy>
  <cp:revision>62</cp:revision>
  <dcterms:created xsi:type="dcterms:W3CDTF">2020-04-07T18:21:27Z</dcterms:created>
  <dcterms:modified xsi:type="dcterms:W3CDTF">2021-04-08T23:56:02Z</dcterms:modified>
</cp:coreProperties>
</file>