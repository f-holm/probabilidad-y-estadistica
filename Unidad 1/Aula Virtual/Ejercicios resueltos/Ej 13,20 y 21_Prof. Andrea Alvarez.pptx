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721" autoAdjust="0"/>
  </p:normalViewPr>
  <p:slideViewPr>
    <p:cSldViewPr>
      <p:cViewPr>
        <p:scale>
          <a:sx n="66" d="100"/>
          <a:sy n="66" d="100"/>
        </p:scale>
        <p:origin x="-1452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D3ED1-0753-40D0-A968-D85444424374}" type="datetimeFigureOut">
              <a:rPr lang="es-ES" smtClean="0"/>
              <a:t>08/04/2021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5A6F5-0F40-42BC-AE36-AB09CC1C6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64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68263-C03A-47F3-980D-AAF7EA43F3D9}" type="datetimeFigureOut">
              <a:rPr lang="es-ES" smtClean="0"/>
              <a:pPr/>
              <a:t>08/04/2021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F1653-7DD4-4BB9-A88A-5A72BB4FC4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357158" y="285728"/>
            <a:ext cx="8524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13.</a:t>
            </a:r>
            <a:r>
              <a:rPr lang="es-ES" dirty="0" smtClean="0"/>
              <a:t> </a:t>
            </a:r>
            <a:r>
              <a:rPr lang="es-US" dirty="0"/>
              <a:t>Sea una oficina Of1 trabajan 3 mujeres y un varón, y en otra oficina Of2 trabajan </a:t>
            </a:r>
            <a:r>
              <a:rPr lang="es-US" dirty="0" smtClean="0"/>
              <a:t>dos</a:t>
            </a:r>
          </a:p>
          <a:p>
            <a:r>
              <a:rPr lang="es-US" dirty="0" smtClean="0"/>
              <a:t> mujeres y </a:t>
            </a:r>
            <a:r>
              <a:rPr lang="es-US" dirty="0"/>
              <a:t>dos varones. Se decidió transferir un empleado al azar de la primer oficina a </a:t>
            </a:r>
            <a:r>
              <a:rPr lang="es-US" dirty="0" smtClean="0"/>
              <a:t>la</a:t>
            </a:r>
          </a:p>
          <a:p>
            <a:r>
              <a:rPr lang="es-US" dirty="0" smtClean="0"/>
              <a:t> </a:t>
            </a:r>
            <a:r>
              <a:rPr lang="es-US" dirty="0"/>
              <a:t>segunda. </a:t>
            </a:r>
            <a:r>
              <a:rPr lang="es-US" dirty="0" smtClean="0"/>
              <a:t>Si se </a:t>
            </a:r>
            <a:r>
              <a:rPr lang="es-US" dirty="0"/>
              <a:t>selecciona, después de este traspaso, de la segunda oficina un empleado</a:t>
            </a:r>
            <a:r>
              <a:rPr lang="es-US" dirty="0" smtClean="0"/>
              <a:t>,</a:t>
            </a:r>
          </a:p>
          <a:p>
            <a:r>
              <a:rPr lang="es-US" dirty="0" smtClean="0"/>
              <a:t> ¿qué probabilidad hay </a:t>
            </a:r>
            <a:r>
              <a:rPr lang="es-US" dirty="0"/>
              <a:t>de que sea mujer?</a:t>
            </a:r>
            <a:endParaRPr lang="es-E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1809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361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8" name="27 Rectángulo"/>
          <p:cNvSpPr/>
          <p:nvPr/>
        </p:nvSpPr>
        <p:spPr>
          <a:xfrm>
            <a:off x="357158" y="285728"/>
            <a:ext cx="8429684" cy="12003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3" name="2 CuadroTexto"/>
          <p:cNvSpPr txBox="1"/>
          <p:nvPr/>
        </p:nvSpPr>
        <p:spPr>
          <a:xfrm>
            <a:off x="317294" y="2060848"/>
            <a:ext cx="8469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M</a:t>
            </a:r>
            <a:r>
              <a:rPr lang="es-AR" baseline="-25000" dirty="0" smtClean="0"/>
              <a:t>1</a:t>
            </a:r>
            <a:r>
              <a:rPr lang="es-AR" dirty="0"/>
              <a:t>: “La persona transferida de Of</a:t>
            </a:r>
            <a:r>
              <a:rPr lang="es-AR" baseline="-25000" dirty="0"/>
              <a:t>1</a:t>
            </a:r>
            <a:r>
              <a:rPr lang="es-AR" dirty="0"/>
              <a:t> a Of</a:t>
            </a:r>
            <a:r>
              <a:rPr lang="es-AR" baseline="-25000" dirty="0"/>
              <a:t>2</a:t>
            </a:r>
            <a:r>
              <a:rPr lang="es-AR" dirty="0"/>
              <a:t> es mujer”     </a:t>
            </a:r>
            <a:endParaRPr lang="es-AR" dirty="0" smtClean="0"/>
          </a:p>
          <a:p>
            <a:r>
              <a:rPr lang="es-AR" dirty="0" smtClean="0"/>
              <a:t>             </a:t>
            </a:r>
          </a:p>
          <a:p>
            <a:r>
              <a:rPr lang="es-AR" dirty="0" smtClean="0"/>
              <a:t>V</a:t>
            </a:r>
            <a:r>
              <a:rPr lang="es-AR" baseline="-25000" dirty="0" smtClean="0"/>
              <a:t>1</a:t>
            </a:r>
            <a:r>
              <a:rPr lang="es-AR" dirty="0"/>
              <a:t>: “La persona transferida de Of</a:t>
            </a:r>
            <a:r>
              <a:rPr lang="es-AR" baseline="-25000" dirty="0"/>
              <a:t>1</a:t>
            </a:r>
            <a:r>
              <a:rPr lang="es-AR" dirty="0"/>
              <a:t> a Of</a:t>
            </a:r>
            <a:r>
              <a:rPr lang="es-AR" baseline="-25000" dirty="0"/>
              <a:t>2</a:t>
            </a:r>
            <a:r>
              <a:rPr lang="es-AR" dirty="0"/>
              <a:t> es varón</a:t>
            </a:r>
            <a:r>
              <a:rPr lang="es-AR" dirty="0" smtClean="0"/>
              <a:t>”</a:t>
            </a:r>
          </a:p>
          <a:p>
            <a:endParaRPr lang="es-AR" dirty="0" smtClean="0"/>
          </a:p>
          <a:p>
            <a:r>
              <a:rPr lang="es-AR" dirty="0"/>
              <a:t>M</a:t>
            </a:r>
            <a:r>
              <a:rPr lang="es-AR" baseline="-25000" dirty="0"/>
              <a:t>2</a:t>
            </a:r>
            <a:r>
              <a:rPr lang="es-AR" dirty="0"/>
              <a:t> : “La persona que se selecciona de Of</a:t>
            </a:r>
            <a:r>
              <a:rPr lang="es-AR" baseline="-25000" dirty="0"/>
              <a:t>2</a:t>
            </a:r>
            <a:r>
              <a:rPr lang="es-AR" dirty="0"/>
              <a:t> es mujer, luego de que se realizó la transferencia de un empleado de Of</a:t>
            </a:r>
            <a:r>
              <a:rPr lang="es-AR" baseline="-25000" dirty="0"/>
              <a:t>1</a:t>
            </a:r>
            <a:r>
              <a:rPr lang="es-AR" dirty="0"/>
              <a:t> a Of</a:t>
            </a:r>
            <a:r>
              <a:rPr lang="es-AR" baseline="-25000" dirty="0"/>
              <a:t>2</a:t>
            </a:r>
            <a:r>
              <a:rPr lang="es-AR" dirty="0" smtClean="0"/>
              <a:t>”</a:t>
            </a:r>
            <a:endParaRPr lang="es-US" dirty="0"/>
          </a:p>
        </p:txBody>
      </p:sp>
      <p:sp>
        <p:nvSpPr>
          <p:cNvPr id="4" name="3 CuadroTexto"/>
          <p:cNvSpPr txBox="1"/>
          <p:nvPr/>
        </p:nvSpPr>
        <p:spPr>
          <a:xfrm>
            <a:off x="323528" y="4365104"/>
            <a:ext cx="124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 smtClean="0"/>
              <a:t>Pregunta</a:t>
            </a:r>
            <a:r>
              <a:rPr lang="es-US" dirty="0" smtClean="0"/>
              <a:t>:</a:t>
            </a:r>
            <a:endParaRPr lang="es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18 CuadroTexto"/>
              <p:cNvSpPr txBox="1"/>
              <p:nvPr/>
            </p:nvSpPr>
            <p:spPr>
              <a:xfrm>
                <a:off x="2915816" y="5446965"/>
                <a:ext cx="2486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AR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US" b="0" i="1" smtClean="0">
                          <a:latin typeface="Cambria Math"/>
                        </a:rPr>
                        <m:t>=???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>
          <p:sp>
            <p:nvSpPr>
              <p:cNvPr id="19" name="1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446965"/>
                <a:ext cx="2486650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19 Grupo"/>
          <p:cNvGrpSpPr/>
          <p:nvPr/>
        </p:nvGrpSpPr>
        <p:grpSpPr>
          <a:xfrm>
            <a:off x="1513566" y="394064"/>
            <a:ext cx="7349298" cy="4419600"/>
            <a:chOff x="1513566" y="394064"/>
            <a:chExt cx="7349298" cy="4419600"/>
          </a:xfrm>
        </p:grpSpPr>
        <p:grpSp>
          <p:nvGrpSpPr>
            <p:cNvPr id="19" name="18 Grupo"/>
            <p:cNvGrpSpPr/>
            <p:nvPr/>
          </p:nvGrpSpPr>
          <p:grpSpPr>
            <a:xfrm>
              <a:off x="1513566" y="394064"/>
              <a:ext cx="7349298" cy="4419600"/>
              <a:chOff x="1513566" y="394064"/>
              <a:chExt cx="7349298" cy="4419600"/>
            </a:xfrm>
          </p:grpSpPr>
          <p:pic>
            <p:nvPicPr>
              <p:cNvPr id="14353" name="Picture 17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7664" y="394064"/>
                <a:ext cx="7315200" cy="441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17 Rectángulo"/>
              <p:cNvSpPr/>
              <p:nvPr/>
            </p:nvSpPr>
            <p:spPr>
              <a:xfrm>
                <a:off x="1513566" y="2377346"/>
                <a:ext cx="619582" cy="108012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US"/>
              </a:p>
            </p:txBody>
          </p:sp>
        </p:grpSp>
        <p:sp>
          <p:nvSpPr>
            <p:cNvPr id="28" name="27 Rectángulo"/>
            <p:cNvSpPr/>
            <p:nvPr/>
          </p:nvSpPr>
          <p:spPr>
            <a:xfrm>
              <a:off x="3476828" y="3433893"/>
              <a:ext cx="619582" cy="108012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p:sp>
          <p:nvSpPr>
            <p:cNvPr id="29" name="28 Rectángulo"/>
            <p:cNvSpPr/>
            <p:nvPr/>
          </p:nvSpPr>
          <p:spPr>
            <a:xfrm>
              <a:off x="3634627" y="1253684"/>
              <a:ext cx="619582" cy="108012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</p:grp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107504" y="188640"/>
            <a:ext cx="193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Diagrama de Árbol</a:t>
            </a:r>
            <a:endParaRPr lang="es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683568" y="4941168"/>
                <a:ext cx="64087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/>
                  <a:t>P(M2)=P(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/>
                      </a:rPr>
                      <m:t>𝑀</m:t>
                    </m:r>
                    <m:r>
                      <a:rPr lang="es-AR" i="1">
                        <a:latin typeface="Cambria Math"/>
                      </a:rPr>
                      <m:t>2∩</m:t>
                    </m:r>
                    <m:r>
                      <a:rPr lang="es-AR" i="1">
                        <a:latin typeface="Cambria Math"/>
                      </a:rPr>
                      <m:t>𝑀</m:t>
                    </m:r>
                    <m:r>
                      <a:rPr lang="es-AR" i="1">
                        <a:latin typeface="Cambria Math"/>
                      </a:rPr>
                      <m:t>1)+</m:t>
                    </m:r>
                    <m:r>
                      <a:rPr lang="es-AR" i="1">
                        <a:latin typeface="Cambria Math"/>
                      </a:rPr>
                      <m:t>𝑃</m:t>
                    </m:r>
                    <m:r>
                      <a:rPr lang="es-AR" i="1">
                        <a:latin typeface="Cambria Math"/>
                      </a:rPr>
                      <m:t>(</m:t>
                    </m:r>
                    <m:r>
                      <a:rPr lang="es-AR" i="1">
                        <a:latin typeface="Cambria Math"/>
                      </a:rPr>
                      <m:t>𝑀</m:t>
                    </m:r>
                    <m:r>
                      <a:rPr lang="es-AR" i="1">
                        <a:latin typeface="Cambria Math"/>
                      </a:rPr>
                      <m:t>2∩</m:t>
                    </m:r>
                    <m:r>
                      <a:rPr lang="es-AR" i="1">
                        <a:latin typeface="Cambria Math"/>
                      </a:rPr>
                      <m:t>𝑉</m:t>
                    </m:r>
                    <m:r>
                      <a:rPr lang="es-AR" i="1">
                        <a:latin typeface="Cambria Math"/>
                      </a:rPr>
                      <m:t>1)</m:t>
                    </m:r>
                  </m:oMath>
                </a14:m>
                <a:endParaRPr lang="es-US" dirty="0"/>
              </a:p>
              <a:p>
                <a:endParaRPr lang="es-US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941168"/>
                <a:ext cx="6408712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761" t="-471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15 Grupo"/>
          <p:cNvGrpSpPr/>
          <p:nvPr/>
        </p:nvGrpSpPr>
        <p:grpSpPr>
          <a:xfrm>
            <a:off x="3995936" y="6146710"/>
            <a:ext cx="1856598" cy="594658"/>
            <a:chOff x="5004048" y="6002694"/>
            <a:chExt cx="1856598" cy="594658"/>
          </a:xfrm>
        </p:grpSpPr>
        <p:sp>
          <p:nvSpPr>
            <p:cNvPr id="15" name="14 Rectángulo"/>
            <p:cNvSpPr/>
            <p:nvPr/>
          </p:nvSpPr>
          <p:spPr>
            <a:xfrm>
              <a:off x="5004048" y="6002694"/>
              <a:ext cx="1856598" cy="59465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13 CuadroTexto"/>
                <p:cNvSpPr txBox="1"/>
                <p:nvPr/>
              </p:nvSpPr>
              <p:spPr>
                <a:xfrm>
                  <a:off x="5004048" y="6002694"/>
                  <a:ext cx="1856598" cy="4851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AR" dirty="0"/>
                    <a:t> P(M2)=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s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i="1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s-AR" i="1">
                              <a:latin typeface="Cambria Math"/>
                            </a:rPr>
                            <m:t>20</m:t>
                          </m:r>
                        </m:den>
                      </m:f>
                      <m:r>
                        <a:rPr lang="es-AR" i="1">
                          <a:latin typeface="Cambria Math"/>
                        </a:rPr>
                        <m:t>=0,55</m:t>
                      </m:r>
                    </m:oMath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14" name="1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4048" y="6002694"/>
                  <a:ext cx="1856598" cy="485197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8861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698217" y="4537038"/>
                <a:ext cx="33843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</a:rPr>
                        <m:t>𝑀</m:t>
                      </m:r>
                      <m:r>
                        <a:rPr lang="es-AR" i="1">
                          <a:latin typeface="Cambria Math"/>
                        </a:rPr>
                        <m:t>2=(</m:t>
                      </m:r>
                      <m:r>
                        <a:rPr lang="es-AR" i="1">
                          <a:latin typeface="Cambria Math"/>
                        </a:rPr>
                        <m:t>𝑀</m:t>
                      </m:r>
                      <m:r>
                        <a:rPr lang="es-AR" i="1">
                          <a:latin typeface="Cambria Math"/>
                        </a:rPr>
                        <m:t>2∩</m:t>
                      </m:r>
                      <m:r>
                        <a:rPr lang="es-AR" i="1">
                          <a:latin typeface="Cambria Math"/>
                        </a:rPr>
                        <m:t>𝑀</m:t>
                      </m:r>
                      <m:r>
                        <a:rPr lang="es-AR" i="1">
                          <a:latin typeface="Cambria Math"/>
                        </a:rPr>
                        <m:t>1)∪(</m:t>
                      </m:r>
                      <m:r>
                        <a:rPr lang="es-AR" i="1">
                          <a:latin typeface="Cambria Math"/>
                        </a:rPr>
                        <m:t>𝑀</m:t>
                      </m:r>
                      <m:r>
                        <a:rPr lang="es-AR" i="1">
                          <a:latin typeface="Cambria Math"/>
                        </a:rPr>
                        <m:t>2∩</m:t>
                      </m:r>
                      <m:r>
                        <a:rPr lang="es-AR" i="1">
                          <a:latin typeface="Cambria Math"/>
                        </a:rPr>
                        <m:t>𝑉</m:t>
                      </m:r>
                      <m:r>
                        <a:rPr lang="es-AR" i="1">
                          <a:latin typeface="Cambria Math"/>
                        </a:rPr>
                        <m:t>1)</m:t>
                      </m:r>
                    </m:oMath>
                  </m:oMathPara>
                </a14:m>
                <a:endParaRPr lang="es-US" dirty="0"/>
              </a:p>
              <a:p>
                <a:endParaRPr lang="es-US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17" y="4537038"/>
                <a:ext cx="3384376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683568" y="5363924"/>
                <a:ext cx="64087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P(M2</a:t>
                </a:r>
                <a:r>
                  <a:rPr lang="en-US" dirty="0"/>
                  <a:t>)=P(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1)</m:t>
                    </m:r>
                    <m:r>
                      <a:rPr lang="es-AR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s-AR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2/</m:t>
                    </m:r>
                    <m:r>
                      <a:rPr lang="es-AR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1)+</m:t>
                    </m:r>
                    <m:r>
                      <a:rPr lang="es-AR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s-AR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1)</m:t>
                    </m:r>
                    <m:r>
                      <a:rPr lang="es-AR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𝑀</m:t>
                    </m:r>
                    <m:r>
                      <a:rPr lang="en-US" i="1">
                        <a:latin typeface="Cambria Math"/>
                      </a:rPr>
                      <m:t>2/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1)</m:t>
                    </m:r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5363924"/>
                <a:ext cx="640871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761" t="-8333" b="-2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25 CuadroTexto"/>
              <p:cNvSpPr txBox="1"/>
              <p:nvPr/>
            </p:nvSpPr>
            <p:spPr>
              <a:xfrm>
                <a:off x="712033" y="5733256"/>
                <a:ext cx="298737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dirty="0" smtClean="0"/>
                  <a:t>P(M2</a:t>
                </a:r>
                <a:r>
                  <a:rPr lang="es-AR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s-AR" i="1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s-AR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s-AR" i="1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s-AR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20</m:t>
                        </m:r>
                      </m:den>
                    </m:f>
                    <m:r>
                      <a:rPr lang="es-AR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AR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s-AR" i="1">
                            <a:latin typeface="Cambria Math"/>
                          </a:rPr>
                          <m:t>20</m:t>
                        </m:r>
                      </m:den>
                    </m:f>
                  </m:oMath>
                </a14:m>
                <a:endParaRPr lang="es-US" dirty="0"/>
              </a:p>
            </p:txBody>
          </p:sp>
        </mc:Choice>
        <mc:Fallback xmlns=""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33" y="5733256"/>
                <a:ext cx="2987371" cy="492443"/>
              </a:xfrm>
              <a:prstGeom prst="rect">
                <a:avLst/>
              </a:prstGeom>
              <a:blipFill rotWithShape="1">
                <a:blip r:embed="rId7"/>
                <a:stretch>
                  <a:fillRect l="-1837" b="-740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20 Llamada rectangular redondeada"/>
          <p:cNvSpPr/>
          <p:nvPr/>
        </p:nvSpPr>
        <p:spPr>
          <a:xfrm>
            <a:off x="7632586" y="19791"/>
            <a:ext cx="1495638" cy="748546"/>
          </a:xfrm>
          <a:prstGeom prst="wedgeRoundRectCallout">
            <a:avLst>
              <a:gd name="adj1" fmla="val -74692"/>
              <a:gd name="adj2" fmla="val 4906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Teorema</a:t>
            </a:r>
          </a:p>
          <a:p>
            <a:pPr algn="ctr"/>
            <a:r>
              <a:rPr lang="es-US" sz="1200" dirty="0">
                <a:solidFill>
                  <a:srgbClr val="FFFF00"/>
                </a:solidFill>
              </a:rPr>
              <a:t>d</a:t>
            </a:r>
            <a:r>
              <a:rPr lang="es-US" sz="1200" dirty="0" smtClean="0">
                <a:solidFill>
                  <a:srgbClr val="FFFF00"/>
                </a:solidFill>
              </a:rPr>
              <a:t>e la</a:t>
            </a:r>
          </a:p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Multiplicación</a:t>
            </a:r>
            <a:endParaRPr lang="es-US" sz="1200" dirty="0">
              <a:solidFill>
                <a:srgbClr val="FFFF00"/>
              </a:solidFill>
            </a:endParaRPr>
          </a:p>
        </p:txBody>
      </p:sp>
      <p:sp>
        <p:nvSpPr>
          <p:cNvPr id="22" name="21 Llamada rectangular redondeada"/>
          <p:cNvSpPr/>
          <p:nvPr/>
        </p:nvSpPr>
        <p:spPr>
          <a:xfrm>
            <a:off x="7524328" y="3976598"/>
            <a:ext cx="1495638" cy="748546"/>
          </a:xfrm>
          <a:prstGeom prst="wedgeRoundRectCallout">
            <a:avLst>
              <a:gd name="adj1" fmla="val -34904"/>
              <a:gd name="adj2" fmla="val -827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Teorema</a:t>
            </a:r>
          </a:p>
          <a:p>
            <a:pPr algn="ctr"/>
            <a:r>
              <a:rPr lang="es-US" sz="1200" dirty="0">
                <a:solidFill>
                  <a:srgbClr val="FFFF00"/>
                </a:solidFill>
              </a:rPr>
              <a:t>d</a:t>
            </a:r>
            <a:r>
              <a:rPr lang="es-US" sz="1200" dirty="0" smtClean="0">
                <a:solidFill>
                  <a:srgbClr val="FFFF00"/>
                </a:solidFill>
              </a:rPr>
              <a:t>e la</a:t>
            </a:r>
          </a:p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Multiplicación</a:t>
            </a:r>
            <a:endParaRPr lang="es-US" sz="1200" dirty="0">
              <a:solidFill>
                <a:srgbClr val="FFFF00"/>
              </a:solidFill>
            </a:endParaRPr>
          </a:p>
        </p:txBody>
      </p:sp>
      <p:sp>
        <p:nvSpPr>
          <p:cNvPr id="23" name="22 Llamada rectangular redondeada"/>
          <p:cNvSpPr/>
          <p:nvPr/>
        </p:nvSpPr>
        <p:spPr>
          <a:xfrm>
            <a:off x="6588224" y="5128726"/>
            <a:ext cx="1495638" cy="748546"/>
          </a:xfrm>
          <a:prstGeom prst="wedgeRoundRectCallout">
            <a:avLst>
              <a:gd name="adj1" fmla="val -146505"/>
              <a:gd name="adj2" fmla="val 141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Teorema</a:t>
            </a:r>
          </a:p>
          <a:p>
            <a:pPr algn="ctr"/>
            <a:r>
              <a:rPr lang="es-US" sz="1200" dirty="0">
                <a:solidFill>
                  <a:srgbClr val="FFFF00"/>
                </a:solidFill>
              </a:rPr>
              <a:t>d</a:t>
            </a:r>
            <a:r>
              <a:rPr lang="es-US" sz="1200" dirty="0" smtClean="0">
                <a:solidFill>
                  <a:srgbClr val="FFFF00"/>
                </a:solidFill>
              </a:rPr>
              <a:t>e la</a:t>
            </a:r>
          </a:p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Probabilidad Total</a:t>
            </a:r>
            <a:endParaRPr lang="es-US" sz="1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5" grpId="0"/>
      <p:bldP spid="26" grpId="0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"/>
          <p:cNvSpPr/>
          <p:nvPr/>
        </p:nvSpPr>
        <p:spPr>
          <a:xfrm>
            <a:off x="351994" y="5808470"/>
            <a:ext cx="2343450" cy="6297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1 Rectángulo"/>
          <p:cNvSpPr/>
          <p:nvPr/>
        </p:nvSpPr>
        <p:spPr>
          <a:xfrm>
            <a:off x="347958" y="3861048"/>
            <a:ext cx="1706912" cy="4857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8 CuadroTexto"/>
          <p:cNvSpPr txBox="1"/>
          <p:nvPr/>
        </p:nvSpPr>
        <p:spPr>
          <a:xfrm>
            <a:off x="23688" y="313033"/>
            <a:ext cx="9213100" cy="120032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s-US" b="1" dirty="0" smtClean="0"/>
              <a:t>20.</a:t>
            </a:r>
            <a:r>
              <a:rPr lang="es-US" dirty="0" smtClean="0"/>
              <a:t> Se </a:t>
            </a:r>
            <a:r>
              <a:rPr lang="es-US" dirty="0"/>
              <a:t>lanza un dado dos veces. Hallar la probabilidad de que la suma de sus números sea mayor</a:t>
            </a:r>
          </a:p>
          <a:p>
            <a:r>
              <a:rPr lang="es-US" dirty="0"/>
              <a:t>o igual que ocho </a:t>
            </a:r>
            <a:r>
              <a:rPr lang="es-US" dirty="0" smtClean="0"/>
              <a:t>si:</a:t>
            </a:r>
            <a:endParaRPr lang="es-US" dirty="0"/>
          </a:p>
          <a:p>
            <a:r>
              <a:rPr lang="es-US" dirty="0"/>
              <a:t>a) aparece un cuatro en el primer dado.</a:t>
            </a:r>
          </a:p>
          <a:p>
            <a:r>
              <a:rPr lang="es-US" dirty="0"/>
              <a:t>b) aparece un cuatro en, por lo menos, uno de los dados.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CuadroTexto"/>
              <p:cNvSpPr txBox="1"/>
              <p:nvPr/>
            </p:nvSpPr>
            <p:spPr>
              <a:xfrm>
                <a:off x="420542" y="1628800"/>
                <a:ext cx="221727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A</m:t>
                      </m:r>
                      <m:r>
                        <a:rPr lang="es-AR" smtClean="0">
                          <a:latin typeface="Cambria Math"/>
                        </a:rPr>
                        <m:t>:"</m:t>
                      </m:r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la</m:t>
                      </m:r>
                      <m:r>
                        <a:rPr lang="es-AR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suma</m:t>
                      </m:r>
                      <m:r>
                        <a:rPr lang="es-AR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es</m:t>
                      </m:r>
                      <m:r>
                        <a:rPr lang="es-AR" smtClean="0">
                          <a:latin typeface="Cambria Math"/>
                        </a:rPr>
                        <m:t> ≥8 "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42" y="1628800"/>
                <a:ext cx="221727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341709" y="3861048"/>
                <a:ext cx="1713161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AR">
                            <a:latin typeface="Cambria Math"/>
                          </a:rPr>
                          <m:t>A</m:t>
                        </m:r>
                        <m:r>
                          <a:rPr lang="es-AR">
                            <a:latin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AR">
                            <a:latin typeface="Cambria Math"/>
                          </a:rPr>
                          <m:t>B</m:t>
                        </m:r>
                      </m:e>
                    </m:d>
                    <m:r>
                      <a:rPr lang="es-AR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s-US" i="1">
                            <a:latin typeface="Cambria Math"/>
                          </a:rPr>
                        </m:ctrlPr>
                      </m:fPr>
                      <m:num>
                        <m:r>
                          <a:rPr lang="es-US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s-US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r>
                  <a:rPr lang="es-US" dirty="0" smtClean="0"/>
                  <a:t>=0,5</a:t>
                </a:r>
                <a:endParaRPr lang="es-US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09" y="3861048"/>
                <a:ext cx="1713161" cy="485774"/>
              </a:xfrm>
              <a:prstGeom prst="rect">
                <a:avLst/>
              </a:prstGeom>
              <a:blipFill rotWithShape="1">
                <a:blip r:embed="rId3"/>
                <a:stretch>
                  <a:fillRect r="-2135" b="-750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1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817752"/>
              </p:ext>
            </p:extLst>
          </p:nvPr>
        </p:nvGraphicFramePr>
        <p:xfrm>
          <a:off x="4630238" y="3861048"/>
          <a:ext cx="439248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081"/>
                <a:gridCol w="732081"/>
                <a:gridCol w="732081"/>
                <a:gridCol w="732081"/>
                <a:gridCol w="732081"/>
                <a:gridCol w="732081"/>
              </a:tblGrid>
              <a:tr h="343276"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2-1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3-1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4-1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5-1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6-1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4-5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4-6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1" name="20 Grupo"/>
          <p:cNvGrpSpPr/>
          <p:nvPr/>
        </p:nvGrpSpPr>
        <p:grpSpPr>
          <a:xfrm>
            <a:off x="55454" y="2204864"/>
            <a:ext cx="4300522" cy="801380"/>
            <a:chOff x="55454" y="2204864"/>
            <a:chExt cx="4300522" cy="801380"/>
          </a:xfrm>
        </p:grpSpPr>
        <p:sp>
          <p:nvSpPr>
            <p:cNvPr id="12" name="11 CuadroTexto"/>
            <p:cNvSpPr txBox="1"/>
            <p:nvPr/>
          </p:nvSpPr>
          <p:spPr>
            <a:xfrm>
              <a:off x="55454" y="2204864"/>
              <a:ext cx="370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 smtClean="0"/>
                <a:t>a)</a:t>
              </a:r>
              <a:endParaRPr lang="es-US" b="1" dirty="0"/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347958" y="2636912"/>
              <a:ext cx="4008018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r>
                <a:rPr lang="es-US" dirty="0" smtClean="0"/>
                <a:t>B: “aparece </a:t>
              </a:r>
              <a:r>
                <a:rPr lang="es-US" dirty="0"/>
                <a:t>un cuatro en el primer </a:t>
              </a:r>
              <a:r>
                <a:rPr lang="es-US" dirty="0" smtClean="0"/>
                <a:t>dado”</a:t>
              </a:r>
              <a:endParaRPr lang="es-US" dirty="0"/>
            </a:p>
          </p:txBody>
        </p:sp>
      </p:grp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184632"/>
              </p:ext>
            </p:extLst>
          </p:nvPr>
        </p:nvGraphicFramePr>
        <p:xfrm>
          <a:off x="4611081" y="1513362"/>
          <a:ext cx="439248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081"/>
                <a:gridCol w="732081"/>
                <a:gridCol w="732081"/>
                <a:gridCol w="732081"/>
                <a:gridCol w="732081"/>
                <a:gridCol w="732081"/>
              </a:tblGrid>
              <a:tr h="343276"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2-1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3-1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4-1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5-1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6-1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4-5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4-6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CuadroTexto"/>
              <p:cNvSpPr txBox="1"/>
              <p:nvPr/>
            </p:nvSpPr>
            <p:spPr>
              <a:xfrm>
                <a:off x="347958" y="5064162"/>
                <a:ext cx="2129942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A</m:t>
                          </m:r>
                          <m:r>
                            <a:rPr lang="es-AR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B</m:t>
                          </m:r>
                        </m:e>
                      </m:d>
                      <m:r>
                        <a:rPr lang="es-AR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P</m:t>
                          </m:r>
                          <m:r>
                            <a:rPr lang="es-AR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A</m:t>
                          </m:r>
                          <m:r>
                            <a:rPr lang="es-AR">
                              <a:latin typeface="Cambria Math"/>
                            </a:rPr>
                            <m:t>∩</m:t>
                          </m:r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B</m:t>
                          </m:r>
                          <m:r>
                            <a:rPr lang="es-AR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P</m:t>
                          </m:r>
                          <m:r>
                            <a:rPr lang="es-AR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B</m:t>
                          </m:r>
                          <m:r>
                            <a:rPr lang="es-AR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58" y="5064162"/>
                <a:ext cx="2129942" cy="6690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18 CuadroTexto"/>
          <p:cNvSpPr txBox="1"/>
          <p:nvPr/>
        </p:nvSpPr>
        <p:spPr>
          <a:xfrm>
            <a:off x="323528" y="4437112"/>
            <a:ext cx="231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Aplicando la definición</a:t>
            </a:r>
            <a:endParaRPr lang="es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19 CuadroTexto"/>
              <p:cNvSpPr txBox="1"/>
              <p:nvPr/>
            </p:nvSpPr>
            <p:spPr>
              <a:xfrm>
                <a:off x="323528" y="5788346"/>
                <a:ext cx="2394438" cy="664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A</m:t>
                          </m:r>
                          <m:r>
                            <a:rPr lang="es-AR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AR">
                              <a:latin typeface="Cambria Math"/>
                            </a:rPr>
                            <m:t>B</m:t>
                          </m:r>
                        </m:e>
                      </m:d>
                      <m:r>
                        <a:rPr lang="es-AR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US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  <m:r>
                            <a:rPr lang="es-US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s-US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𝟑𝟔</m:t>
                          </m:r>
                        </m:num>
                        <m:den>
                          <m:r>
                            <a:rPr lang="es-US" b="1" i="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𝟔</m:t>
                          </m:r>
                          <m:r>
                            <a:rPr lang="es-US" b="1" i="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s-US" b="1" i="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𝟑𝟔</m:t>
                          </m:r>
                        </m:den>
                      </m:f>
                      <m:r>
                        <a:rPr lang="es-US" b="0" i="1" smtClean="0">
                          <a:latin typeface="Cambria Math"/>
                        </a:rPr>
                        <m:t>=0,5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20" name="1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788346"/>
                <a:ext cx="2394438" cy="66499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CuadroTexto"/>
              <p:cNvSpPr txBox="1"/>
              <p:nvPr/>
            </p:nvSpPr>
            <p:spPr>
              <a:xfrm>
                <a:off x="323528" y="3140968"/>
                <a:ext cx="14662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i="1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AR">
                            <a:latin typeface="Cambria Math"/>
                          </a:rPr>
                          <m:t>A</m:t>
                        </m:r>
                        <m:r>
                          <a:rPr lang="es-AR">
                            <a:latin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s-AR">
                            <a:latin typeface="Cambria Math"/>
                          </a:rPr>
                          <m:t>B</m:t>
                        </m:r>
                      </m:e>
                    </m:d>
                    <m:r>
                      <a:rPr lang="es-AR">
                        <a:latin typeface="Cambria Math"/>
                      </a:rPr>
                      <m:t>=</m:t>
                    </m:r>
                  </m:oMath>
                </a14:m>
                <a:r>
                  <a:rPr lang="es-US" dirty="0" smtClean="0"/>
                  <a:t>???</a:t>
                </a:r>
                <a:endParaRPr lang="es-US" dirty="0"/>
              </a:p>
            </p:txBody>
          </p:sp>
        </mc:Choice>
        <mc:Fallback xmlns="">
          <p:sp>
            <p:nvSpPr>
              <p:cNvPr id="22" name="2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140968"/>
                <a:ext cx="146629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3320" b="-2459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22 Llamada rectangular redondeada"/>
          <p:cNvSpPr/>
          <p:nvPr/>
        </p:nvSpPr>
        <p:spPr>
          <a:xfrm>
            <a:off x="2637816" y="3486775"/>
            <a:ext cx="1495638" cy="374273"/>
          </a:xfrm>
          <a:prstGeom prst="wedgeRoundRectCallout">
            <a:avLst>
              <a:gd name="adj1" fmla="val -92160"/>
              <a:gd name="adj2" fmla="val 1169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Fórmula de Laplace</a:t>
            </a:r>
            <a:endParaRPr lang="es-US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05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 animBg="1"/>
      <p:bldP spid="10" grpId="0" animBg="1"/>
      <p:bldP spid="14" grpId="0"/>
      <p:bldP spid="18" grpId="0"/>
      <p:bldP spid="19" grpId="0"/>
      <p:bldP spid="20" grpId="0"/>
      <p:bldP spid="22" grpId="0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/>
          <p:nvPr/>
        </p:nvSpPr>
        <p:spPr>
          <a:xfrm>
            <a:off x="572942" y="4891975"/>
            <a:ext cx="2402606" cy="763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1 Rectángulo"/>
          <p:cNvSpPr/>
          <p:nvPr/>
        </p:nvSpPr>
        <p:spPr>
          <a:xfrm>
            <a:off x="420542" y="2377593"/>
            <a:ext cx="1446776" cy="763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grpSp>
        <p:nvGrpSpPr>
          <p:cNvPr id="4" name="3 Grupo"/>
          <p:cNvGrpSpPr/>
          <p:nvPr/>
        </p:nvGrpSpPr>
        <p:grpSpPr>
          <a:xfrm>
            <a:off x="55454" y="260648"/>
            <a:ext cx="7612890" cy="801380"/>
            <a:chOff x="55454" y="2204864"/>
            <a:chExt cx="4300522" cy="801380"/>
          </a:xfrm>
        </p:grpSpPr>
        <p:sp>
          <p:nvSpPr>
            <p:cNvPr id="5" name="4 CuadroTexto"/>
            <p:cNvSpPr txBox="1"/>
            <p:nvPr/>
          </p:nvSpPr>
          <p:spPr>
            <a:xfrm>
              <a:off x="55454" y="2204864"/>
              <a:ext cx="214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b="1" dirty="0" smtClean="0"/>
                <a:t>b)</a:t>
              </a:r>
              <a:endParaRPr lang="es-US" b="1" dirty="0"/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347958" y="2636912"/>
              <a:ext cx="4008018" cy="36933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US" dirty="0"/>
                <a:t>C</a:t>
              </a:r>
              <a:r>
                <a:rPr lang="es-US" dirty="0" smtClean="0"/>
                <a:t>: “aparece </a:t>
              </a:r>
              <a:r>
                <a:rPr lang="es-US" dirty="0"/>
                <a:t>un cuatro en </a:t>
              </a:r>
              <a:r>
                <a:rPr lang="es-US" dirty="0" smtClean="0"/>
                <a:t>por lo menos uno de los dos lanzamientos”</a:t>
              </a:r>
              <a:endParaRPr lang="es-US" dirty="0"/>
            </a:p>
          </p:txBody>
        </p:sp>
      </p:grp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557756"/>
              </p:ext>
            </p:extLst>
          </p:nvPr>
        </p:nvGraphicFramePr>
        <p:xfrm>
          <a:off x="4572000" y="1268760"/>
          <a:ext cx="439248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081"/>
                <a:gridCol w="732081"/>
                <a:gridCol w="732081"/>
                <a:gridCol w="732081"/>
                <a:gridCol w="732081"/>
                <a:gridCol w="732081"/>
              </a:tblGrid>
              <a:tr h="343276"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2-1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3-1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4-1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5-1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6-1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5-4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6-4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4-5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4-6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9 CuadroTexto"/>
              <p:cNvSpPr txBox="1"/>
              <p:nvPr/>
            </p:nvSpPr>
            <p:spPr>
              <a:xfrm>
                <a:off x="420542" y="1628800"/>
                <a:ext cx="221727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A</m:t>
                      </m:r>
                      <m:r>
                        <a:rPr lang="es-AR" smtClean="0">
                          <a:latin typeface="Cambria Math"/>
                        </a:rPr>
                        <m:t>:"</m:t>
                      </m:r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la</m:t>
                      </m:r>
                      <m:r>
                        <a:rPr lang="es-AR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suma</m:t>
                      </m:r>
                      <m:r>
                        <a:rPr lang="es-AR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es</m:t>
                      </m:r>
                      <m:r>
                        <a:rPr lang="es-AR" smtClean="0">
                          <a:latin typeface="Cambria Math"/>
                        </a:rPr>
                        <m:t> ≥8 "</m:t>
                      </m:r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10" name="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42" y="1628800"/>
                <a:ext cx="2217274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1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7182"/>
              </p:ext>
            </p:extLst>
          </p:nvPr>
        </p:nvGraphicFramePr>
        <p:xfrm>
          <a:off x="4572000" y="3645024"/>
          <a:ext cx="439248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081"/>
                <a:gridCol w="732081"/>
                <a:gridCol w="732081"/>
                <a:gridCol w="732081"/>
                <a:gridCol w="732081"/>
                <a:gridCol w="732081"/>
              </a:tblGrid>
              <a:tr h="343276"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2-1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3-1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4-1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5-1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0" dirty="0" smtClean="0">
                          <a:solidFill>
                            <a:schemeClr val="tx1"/>
                          </a:solidFill>
                        </a:rPr>
                        <a:t>6-1</a:t>
                      </a:r>
                      <a:endParaRPr lang="es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6-2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4-3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6-3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3-4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5-4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6-4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4-5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6-5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276">
                <a:tc>
                  <a:txBody>
                    <a:bodyPr/>
                    <a:lstStyle/>
                    <a:p>
                      <a:r>
                        <a:rPr lang="es-US" dirty="0" smtClean="0"/>
                        <a:t>1-6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2-6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3-6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b="1" dirty="0" smtClean="0">
                          <a:solidFill>
                            <a:srgbClr val="FF0000"/>
                          </a:solidFill>
                        </a:rPr>
                        <a:t>4-6</a:t>
                      </a:r>
                      <a:endParaRPr lang="es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5-6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US" dirty="0" smtClean="0"/>
                        <a:t>6-6</a:t>
                      </a:r>
                      <a:endParaRPr lang="es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11 CuadroTexto"/>
              <p:cNvSpPr txBox="1"/>
              <p:nvPr/>
            </p:nvSpPr>
            <p:spPr>
              <a:xfrm>
                <a:off x="341708" y="2420888"/>
                <a:ext cx="1525610" cy="616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 i="0">
                              <a:latin typeface="Cambria Math"/>
                            </a:rPr>
                            <m:t>A</m:t>
                          </m:r>
                          <m:r>
                            <a:rPr lang="es-AR" i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C</m:t>
                          </m:r>
                        </m:e>
                      </m:d>
                      <m:r>
                        <a:rPr lang="es-AR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b="1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US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s-US" b="1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es-US" b="1" dirty="0"/>
              </a:p>
            </p:txBody>
          </p:sp>
        </mc:Choice>
        <mc:Fallback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08" y="2420888"/>
                <a:ext cx="1525610" cy="6165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12 CuadroTexto"/>
          <p:cNvSpPr txBox="1"/>
          <p:nvPr/>
        </p:nvSpPr>
        <p:spPr>
          <a:xfrm>
            <a:off x="323528" y="3356992"/>
            <a:ext cx="231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 smtClean="0"/>
              <a:t>Aplicando la definición</a:t>
            </a:r>
            <a:endParaRPr lang="es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389164" y="4005064"/>
                <a:ext cx="2169440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i="0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 i="0">
                              <a:latin typeface="Cambria Math"/>
                            </a:rPr>
                            <m:t>A</m:t>
                          </m:r>
                          <m:r>
                            <a:rPr lang="es-AR" i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C</m:t>
                          </m:r>
                        </m:e>
                      </m:d>
                      <m:r>
                        <a:rPr lang="es-AR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 i="0">
                              <a:latin typeface="Cambria Math"/>
                            </a:rPr>
                            <m:t>P</m:t>
                          </m:r>
                          <m:r>
                            <a:rPr lang="es-AR" i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AR" i="0">
                              <a:latin typeface="Cambria Math"/>
                            </a:rPr>
                            <m:t>A</m:t>
                          </m:r>
                          <m:r>
                            <a:rPr lang="es-AR" i="0">
                              <a:latin typeface="Cambria Math"/>
                            </a:rPr>
                            <m:t>∩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C</m:t>
                          </m:r>
                          <m:r>
                            <a:rPr lang="es-AR" i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AR" i="0">
                              <a:latin typeface="Cambria Math"/>
                            </a:rPr>
                            <m:t>P</m:t>
                          </m:r>
                          <m:r>
                            <a:rPr lang="es-AR" i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C</m:t>
                          </m:r>
                          <m:r>
                            <a:rPr lang="es-AR" i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US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64" y="4005064"/>
                <a:ext cx="2169440" cy="6690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14 CuadroTexto"/>
              <p:cNvSpPr txBox="1"/>
              <p:nvPr/>
            </p:nvSpPr>
            <p:spPr>
              <a:xfrm>
                <a:off x="483327" y="4941168"/>
                <a:ext cx="2492221" cy="664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smtClean="0">
                          <a:latin typeface="Cambria Math"/>
                        </a:rPr>
                        <m:t>P</m:t>
                      </m:r>
                      <m:d>
                        <m:dPr>
                          <m:ctrlPr>
                            <a:rPr lang="es-US" i="1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 b="0" i="0">
                              <a:latin typeface="Cambria Math"/>
                            </a:rPr>
                            <m:t>A</m:t>
                          </m:r>
                          <m:r>
                            <a:rPr lang="es-AR" b="0" i="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C</m:t>
                          </m:r>
                        </m:e>
                      </m:d>
                      <m:r>
                        <a:rPr lang="es-AR" b="0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US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s-US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s-US" b="1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𝟑𝟔</m:t>
                          </m:r>
                        </m:num>
                        <m:den>
                          <m:r>
                            <a:rPr lang="es-US" b="1" i="0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𝟏𝟏</m:t>
                          </m:r>
                          <m:r>
                            <a:rPr lang="es-US" b="1" i="0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s-US" b="1" i="0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𝟑𝟔</m:t>
                          </m:r>
                        </m:den>
                      </m:f>
                      <m:r>
                        <a:rPr lang="es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US" b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s-US" b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es-US" dirty="0"/>
              </a:p>
            </p:txBody>
          </p:sp>
        </mc:Choice>
        <mc:Fallback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7" y="4941168"/>
                <a:ext cx="2492221" cy="66499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15 Llamada rectangular redondeada"/>
          <p:cNvSpPr/>
          <p:nvPr/>
        </p:nvSpPr>
        <p:spPr>
          <a:xfrm>
            <a:off x="2637816" y="2003320"/>
            <a:ext cx="1495638" cy="374273"/>
          </a:xfrm>
          <a:prstGeom prst="wedgeRoundRectCallout">
            <a:avLst>
              <a:gd name="adj1" fmla="val -92160"/>
              <a:gd name="adj2" fmla="val 1169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>
                <a:solidFill>
                  <a:srgbClr val="FFFF00"/>
                </a:solidFill>
              </a:rPr>
              <a:t>Fórmula de Laplace</a:t>
            </a:r>
            <a:endParaRPr lang="es-US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10" grpId="0" animBg="1"/>
      <p:bldP spid="12" grpId="0"/>
      <p:bldP spid="13" grpId="0"/>
      <p:bldP spid="14" grpId="0"/>
      <p:bldP spid="15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07504" y="116632"/>
            <a:ext cx="7992888" cy="203132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US" b="1" dirty="0" smtClean="0"/>
              <a:t>21. </a:t>
            </a:r>
            <a:r>
              <a:rPr lang="es-US" dirty="0" smtClean="0"/>
              <a:t>Existen </a:t>
            </a:r>
            <a:r>
              <a:rPr lang="es-US" dirty="0"/>
              <a:t>tres caminos de A hasta B y dos caminos de B hasta C, como se muestra en la </a:t>
            </a:r>
            <a:r>
              <a:rPr lang="es-US" dirty="0" smtClean="0"/>
              <a:t>figura. Cada </a:t>
            </a:r>
            <a:r>
              <a:rPr lang="es-US" dirty="0"/>
              <a:t>uno de estos caminos está bloqueado con probabilidad </a:t>
            </a:r>
            <a:r>
              <a:rPr lang="es-US" dirty="0" smtClean="0"/>
              <a:t>0,1 </a:t>
            </a:r>
            <a:r>
              <a:rPr lang="es-US" dirty="0"/>
              <a:t>independientemente de </a:t>
            </a:r>
            <a:r>
              <a:rPr lang="es-US" dirty="0" smtClean="0"/>
              <a:t>los otros</a:t>
            </a:r>
            <a:r>
              <a:rPr lang="es-US" dirty="0"/>
              <a:t>.</a:t>
            </a:r>
          </a:p>
          <a:p>
            <a:pPr algn="just"/>
            <a:r>
              <a:rPr lang="es-US" dirty="0"/>
              <a:t>Hallar la probabilidad de que:</a:t>
            </a:r>
          </a:p>
          <a:p>
            <a:pPr algn="just"/>
            <a:r>
              <a:rPr lang="es-US" dirty="0"/>
              <a:t>a) exista algún camino abierto que permita llegar de A hasta C.</a:t>
            </a:r>
          </a:p>
          <a:p>
            <a:pPr algn="just"/>
            <a:r>
              <a:rPr lang="es-US" dirty="0"/>
              <a:t>b) cuando el camino más corto que une A con B está cerrado, hallar la probabilidad de </a:t>
            </a:r>
            <a:r>
              <a:rPr lang="es-US" dirty="0" smtClean="0"/>
              <a:t>que se </a:t>
            </a:r>
            <a:r>
              <a:rPr lang="es-US" dirty="0"/>
              <a:t>pueda llegar de C hasta A.</a:t>
            </a:r>
          </a:p>
        </p:txBody>
      </p:sp>
      <p:grpSp>
        <p:nvGrpSpPr>
          <p:cNvPr id="29" name="28 Grupo"/>
          <p:cNvGrpSpPr/>
          <p:nvPr/>
        </p:nvGrpSpPr>
        <p:grpSpPr>
          <a:xfrm>
            <a:off x="3194616" y="2060848"/>
            <a:ext cx="5841880" cy="1821191"/>
            <a:chOff x="3203848" y="2265173"/>
            <a:chExt cx="5841880" cy="1821191"/>
          </a:xfrm>
        </p:grpSpPr>
        <p:grpSp>
          <p:nvGrpSpPr>
            <p:cNvPr id="18" name="17 Grupo"/>
            <p:cNvGrpSpPr/>
            <p:nvPr/>
          </p:nvGrpSpPr>
          <p:grpSpPr>
            <a:xfrm>
              <a:off x="3203848" y="2635661"/>
              <a:ext cx="5841880" cy="1154630"/>
              <a:chOff x="3347864" y="2635661"/>
              <a:chExt cx="5841880" cy="1154630"/>
            </a:xfrm>
          </p:grpSpPr>
          <p:grpSp>
            <p:nvGrpSpPr>
              <p:cNvPr id="14" name="13 Grupo"/>
              <p:cNvGrpSpPr/>
              <p:nvPr/>
            </p:nvGrpSpPr>
            <p:grpSpPr>
              <a:xfrm>
                <a:off x="3664362" y="2635661"/>
                <a:ext cx="5372134" cy="1154630"/>
                <a:chOff x="870564" y="2635661"/>
                <a:chExt cx="5372134" cy="1154630"/>
              </a:xfrm>
            </p:grpSpPr>
            <p:grpSp>
              <p:nvGrpSpPr>
                <p:cNvPr id="13" name="12 Grupo"/>
                <p:cNvGrpSpPr/>
                <p:nvPr/>
              </p:nvGrpSpPr>
              <p:grpSpPr>
                <a:xfrm>
                  <a:off x="870564" y="2635661"/>
                  <a:ext cx="5349236" cy="1154630"/>
                  <a:chOff x="870564" y="2635661"/>
                  <a:chExt cx="5349236" cy="1154630"/>
                </a:xfrm>
              </p:grpSpPr>
              <p:grpSp>
                <p:nvGrpSpPr>
                  <p:cNvPr id="12" name="11 Grupo"/>
                  <p:cNvGrpSpPr/>
                  <p:nvPr/>
                </p:nvGrpSpPr>
                <p:grpSpPr>
                  <a:xfrm>
                    <a:off x="899592" y="2635661"/>
                    <a:ext cx="5320208" cy="1154630"/>
                    <a:chOff x="899592" y="2635661"/>
                    <a:chExt cx="5320208" cy="1154630"/>
                  </a:xfrm>
                </p:grpSpPr>
                <p:sp>
                  <p:nvSpPr>
                    <p:cNvPr id="3" name="2 Elipse"/>
                    <p:cNvSpPr/>
                    <p:nvPr/>
                  </p:nvSpPr>
                  <p:spPr>
                    <a:xfrm>
                      <a:off x="899592" y="2708920"/>
                      <a:ext cx="2232248" cy="1008112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US"/>
                    </a:p>
                  </p:txBody>
                </p:sp>
                <p:sp>
                  <p:nvSpPr>
                    <p:cNvPr id="5" name="4 Elipse"/>
                    <p:cNvSpPr/>
                    <p:nvPr/>
                  </p:nvSpPr>
                  <p:spPr>
                    <a:xfrm>
                      <a:off x="3131840" y="2635661"/>
                      <a:ext cx="3087960" cy="115463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US"/>
                    </a:p>
                  </p:txBody>
                </p:sp>
                <p:cxnSp>
                  <p:nvCxnSpPr>
                    <p:cNvPr id="7" name="6 Conector recto"/>
                    <p:cNvCxnSpPr>
                      <a:stCxn id="3" idx="2"/>
                      <a:endCxn id="3" idx="6"/>
                    </p:cNvCxnSpPr>
                    <p:nvPr/>
                  </p:nvCxnSpPr>
                  <p:spPr>
                    <a:xfrm>
                      <a:off x="899592" y="3212976"/>
                      <a:ext cx="2232248" cy="0"/>
                    </a:xfrm>
                    <a:prstGeom prst="line">
                      <a:avLst/>
                    </a:prstGeom>
                    <a:ln w="2222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" name="8 Elipse"/>
                  <p:cNvSpPr/>
                  <p:nvPr/>
                </p:nvSpPr>
                <p:spPr>
                  <a:xfrm>
                    <a:off x="870564" y="3169996"/>
                    <a:ext cx="72008" cy="7200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US"/>
                  </a:p>
                </p:txBody>
              </p:sp>
            </p:grpSp>
            <p:sp>
              <p:nvSpPr>
                <p:cNvPr id="10" name="9 Elipse"/>
                <p:cNvSpPr/>
                <p:nvPr/>
              </p:nvSpPr>
              <p:spPr>
                <a:xfrm>
                  <a:off x="3102812" y="3184510"/>
                  <a:ext cx="72008" cy="7200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US"/>
                </a:p>
              </p:txBody>
            </p:sp>
            <p:sp>
              <p:nvSpPr>
                <p:cNvPr id="11" name="10 Elipse"/>
                <p:cNvSpPr/>
                <p:nvPr/>
              </p:nvSpPr>
              <p:spPr>
                <a:xfrm>
                  <a:off x="6170690" y="3169996"/>
                  <a:ext cx="72008" cy="7200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US"/>
                </a:p>
              </p:txBody>
            </p:sp>
          </p:grpSp>
          <p:sp>
            <p:nvSpPr>
              <p:cNvPr id="15" name="14 CuadroTexto"/>
              <p:cNvSpPr txBox="1"/>
              <p:nvPr/>
            </p:nvSpPr>
            <p:spPr>
              <a:xfrm>
                <a:off x="3347864" y="2924944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A</a:t>
                </a:r>
                <a:endParaRPr lang="es-US" dirty="0"/>
              </a:p>
            </p:txBody>
          </p:sp>
          <p:sp>
            <p:nvSpPr>
              <p:cNvPr id="16" name="15 CuadroTexto"/>
              <p:cNvSpPr txBox="1"/>
              <p:nvPr/>
            </p:nvSpPr>
            <p:spPr>
              <a:xfrm>
                <a:off x="5737752" y="2635661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B</a:t>
                </a:r>
                <a:endParaRPr lang="es-US" dirty="0"/>
              </a:p>
            </p:txBody>
          </p:sp>
          <p:sp>
            <p:nvSpPr>
              <p:cNvPr id="17" name="16 CuadroTexto"/>
              <p:cNvSpPr txBox="1"/>
              <p:nvPr/>
            </p:nvSpPr>
            <p:spPr>
              <a:xfrm>
                <a:off x="8881646" y="274027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C</a:t>
                </a:r>
                <a:endParaRPr lang="es-US" dirty="0"/>
              </a:p>
            </p:txBody>
          </p:sp>
        </p:grpSp>
        <p:grpSp>
          <p:nvGrpSpPr>
            <p:cNvPr id="28" name="27 Grupo"/>
            <p:cNvGrpSpPr/>
            <p:nvPr/>
          </p:nvGrpSpPr>
          <p:grpSpPr>
            <a:xfrm>
              <a:off x="4319811" y="2265173"/>
              <a:ext cx="3316271" cy="1821191"/>
              <a:chOff x="4319811" y="2265173"/>
              <a:chExt cx="3316271" cy="182119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18 CuadroTexto"/>
                  <p:cNvSpPr txBox="1"/>
                  <p:nvPr/>
                </p:nvSpPr>
                <p:spPr>
                  <a:xfrm>
                    <a:off x="4319811" y="2308230"/>
                    <a:ext cx="6254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19" name="18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9811" y="2308230"/>
                    <a:ext cx="625428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19 CuadroTexto"/>
                  <p:cNvSpPr txBox="1"/>
                  <p:nvPr/>
                </p:nvSpPr>
                <p:spPr>
                  <a:xfrm>
                    <a:off x="4472211" y="2843644"/>
                    <a:ext cx="6302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a:rPr lang="es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20" name="1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72211" y="2843644"/>
                    <a:ext cx="630236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20 CuadroTexto"/>
                  <p:cNvSpPr txBox="1"/>
                  <p:nvPr/>
                </p:nvSpPr>
                <p:spPr>
                  <a:xfrm>
                    <a:off x="4427984" y="3635732"/>
                    <a:ext cx="6302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a:rPr lang="es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21" name="2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7984" y="3635732"/>
                    <a:ext cx="63023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21 CuadroTexto"/>
                  <p:cNvSpPr txBox="1"/>
                  <p:nvPr/>
                </p:nvSpPr>
                <p:spPr>
                  <a:xfrm>
                    <a:off x="7017248" y="2265173"/>
                    <a:ext cx="61670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latin typeface="Cambria Math"/>
                                </a:rPr>
                                <m:t>BC</m:t>
                              </m:r>
                            </m:e>
                            <m:sub>
                              <m:r>
                                <a:rPr lang="en-US" i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22" name="2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7248" y="2265173"/>
                    <a:ext cx="616707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7020272" y="3717032"/>
                    <a:ext cx="61581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latin typeface="Cambria Math"/>
                                </a:rPr>
                                <m:t>BC</m:t>
                              </m:r>
                            </m:e>
                            <m:sub>
                              <m:r>
                                <a:rPr lang="es-US" b="0" i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0272" y="3717032"/>
                    <a:ext cx="615810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0" name="29 Grupo"/>
          <p:cNvGrpSpPr/>
          <p:nvPr/>
        </p:nvGrpSpPr>
        <p:grpSpPr>
          <a:xfrm>
            <a:off x="179512" y="2132856"/>
            <a:ext cx="2299219" cy="1976277"/>
            <a:chOff x="467544" y="2276872"/>
            <a:chExt cx="2299219" cy="19762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23 CuadroTexto"/>
                <p:cNvSpPr txBox="1"/>
                <p:nvPr/>
              </p:nvSpPr>
              <p:spPr>
                <a:xfrm>
                  <a:off x="467544" y="2276872"/>
                  <a:ext cx="229921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US" dirty="0" smtClean="0"/>
                    <a:t>Datos:</a:t>
                  </a:r>
                </a:p>
                <a:p>
                  <a:r>
                    <a:rPr lang="es-US" dirty="0" smtClean="0"/>
                    <a:t>P(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s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US" b="0" i="1" smtClean="0">
                          <a:latin typeface="Cambria Math"/>
                        </a:rPr>
                        <m:t>)=0,9;  </m:t>
                      </m:r>
                      <m:r>
                        <a:rPr lang="es-US" b="0" i="1" smtClean="0">
                          <a:latin typeface="Cambria Math"/>
                        </a:rPr>
                        <m:t>𝑖</m:t>
                      </m:r>
                      <m:r>
                        <a:rPr lang="es-US" b="0" i="1" smtClean="0">
                          <a:latin typeface="Cambria Math"/>
                        </a:rPr>
                        <m:t>:1,2,3</m:t>
                      </m:r>
                    </m:oMath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24" name="2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44" y="2276872"/>
                  <a:ext cx="2299219" cy="64633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387" t="-4717" b="-14151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24 CuadroTexto"/>
                <p:cNvSpPr txBox="1"/>
                <p:nvPr/>
              </p:nvSpPr>
              <p:spPr>
                <a:xfrm>
                  <a:off x="467544" y="2915652"/>
                  <a:ext cx="2113464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US" dirty="0" smtClean="0"/>
                    <a:t>P(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BC</m:t>
                          </m:r>
                        </m:e>
                        <m:sub>
                          <m:r>
                            <a:rPr lang="es-US" b="0" i="1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s-US" b="0" i="1" smtClean="0">
                          <a:latin typeface="Cambria Math"/>
                        </a:rPr>
                        <m:t>)=0,9;  </m:t>
                      </m:r>
                      <m:r>
                        <a:rPr lang="es-US" b="0" i="1" smtClean="0">
                          <a:latin typeface="Cambria Math"/>
                        </a:rPr>
                        <m:t>𝑗</m:t>
                      </m:r>
                      <m:r>
                        <a:rPr lang="es-US" b="0" i="1" smtClean="0">
                          <a:latin typeface="Cambria Math"/>
                        </a:rPr>
                        <m:t>:1,2</m:t>
                      </m:r>
                    </m:oMath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25" name="2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44" y="2915652"/>
                  <a:ext cx="2113464" cy="391646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594" t="-6250" b="-20313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25 CuadroTexto"/>
                <p:cNvSpPr txBox="1"/>
                <p:nvPr/>
              </p:nvSpPr>
              <p:spPr>
                <a:xfrm>
                  <a:off x="467544" y="3419708"/>
                  <a:ext cx="2288640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US" dirty="0" smtClean="0"/>
                    <a:t>P</a:t>
                  </a:r>
                  <a:r>
                    <a:rPr lang="es-US" dirty="0" smtClean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  <m:r>
                        <a:rPr lang="es-US" b="0" i="1" smtClean="0">
                          <a:latin typeface="Cambria Math"/>
                        </a:rPr>
                        <m:t>)=0,1;  </m:t>
                      </m:r>
                      <m:r>
                        <a:rPr lang="es-US" b="0" i="1" smtClean="0">
                          <a:latin typeface="Cambria Math"/>
                        </a:rPr>
                        <m:t>𝑖</m:t>
                      </m:r>
                      <m:r>
                        <a:rPr lang="es-US" b="0" i="1" smtClean="0">
                          <a:latin typeface="Cambria Math"/>
                        </a:rPr>
                        <m:t>:1,2,3</m:t>
                      </m:r>
                    </m:oMath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26" name="2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44" y="3419708"/>
                  <a:ext cx="2288640" cy="369909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400" t="-6557" b="-26230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26 CuadroTexto"/>
                <p:cNvSpPr txBox="1"/>
                <p:nvPr/>
              </p:nvSpPr>
              <p:spPr>
                <a:xfrm>
                  <a:off x="467544" y="3851179"/>
                  <a:ext cx="2150653" cy="4019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US" dirty="0" smtClean="0"/>
                    <a:t>P</a:t>
                  </a:r>
                  <a:r>
                    <a:rPr lang="es-US" dirty="0" smtClean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BC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s-US" b="0" i="1" smtClean="0">
                          <a:latin typeface="Cambria Math"/>
                        </a:rPr>
                        <m:t>)=0,1;  </m:t>
                      </m:r>
                      <m:r>
                        <a:rPr lang="es-US" b="0" i="1" smtClean="0">
                          <a:latin typeface="Cambria Math"/>
                        </a:rPr>
                        <m:t>𝑗</m:t>
                      </m:r>
                      <m:r>
                        <a:rPr lang="es-US" b="0" i="1" smtClean="0">
                          <a:latin typeface="Cambria Math"/>
                        </a:rPr>
                        <m:t>:1,2</m:t>
                      </m:r>
                    </m:oMath>
                  </a14:m>
                  <a:endParaRPr lang="es-US" dirty="0"/>
                </a:p>
              </p:txBody>
            </p:sp>
          </mc:Choice>
          <mc:Fallback xmlns="">
            <p:sp>
              <p:nvSpPr>
                <p:cNvPr id="27" name="26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44" y="3851179"/>
                  <a:ext cx="2150653" cy="40197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2550" t="-4545" b="-18182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30 CuadroTexto"/>
              <p:cNvSpPr txBox="1"/>
              <p:nvPr/>
            </p:nvSpPr>
            <p:spPr>
              <a:xfrm>
                <a:off x="-36512" y="4077072"/>
                <a:ext cx="4449423" cy="399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US" b="1" i="0" smtClean="0">
                            <a:latin typeface="Cambria Math"/>
                          </a:rPr>
                          <m:t>𝐚</m:t>
                        </m:r>
                        <m:r>
                          <a:rPr lang="es-US" b="1" i="0" smtClean="0">
                            <a:latin typeface="Cambria Math"/>
                          </a:rPr>
                          <m:t>)</m:t>
                        </m:r>
                        <m:r>
                          <a:rPr lang="es-US" b="0" i="0" smtClean="0">
                            <a:latin typeface="Cambria Math"/>
                          </a:rPr>
                          <m:t>      </m:t>
                        </m:r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P</m:t>
                        </m:r>
                        <m:r>
                          <a:rPr lang="es-US" b="0" i="0" smtClean="0">
                            <a:latin typeface="Cambria Math"/>
                          </a:rPr>
                          <m:t>[(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es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m:rPr>
                        <m:nor/>
                      </m:rPr>
                      <a:rPr lang="es-US" dirty="0"/>
                      <m:t> 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US" dirty="0" smtClean="0"/>
                  <a:t>)</a:t>
                </a:r>
                <a14:m>
                  <m:oMath xmlns:m="http://schemas.openxmlformats.org/officeDocument/2006/math">
                    <m:r>
                      <a:rPr lang="es-US" i="1" dirty="0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es-US" b="0" i="1" dirty="0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>
                            <a:latin typeface="Cambria Math"/>
                          </a:rPr>
                          <m:t>BC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>
                            <a:latin typeface="Cambria Math"/>
                          </a:rPr>
                          <m:t>BC</m:t>
                        </m:r>
                      </m:e>
                      <m:sub>
                        <m:r>
                          <a:rPr lang="es-US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US" dirty="0" smtClean="0"/>
                  <a:t>)]=</a:t>
                </a:r>
                <a:endParaRPr lang="es-US" dirty="0"/>
              </a:p>
            </p:txBody>
          </p:sp>
        </mc:Choice>
        <mc:Fallback xmlns="">
          <p:sp>
            <p:nvSpPr>
              <p:cNvPr id="31" name="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512" y="4077072"/>
                <a:ext cx="4449423" cy="399405"/>
              </a:xfrm>
              <a:prstGeom prst="rect">
                <a:avLst/>
              </a:prstGeom>
              <a:blipFill rotWithShape="1">
                <a:blip r:embed="rId11"/>
                <a:stretch>
                  <a:fillRect t="-6154" r="-822" b="-1846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31 CuadroTexto"/>
              <p:cNvSpPr txBox="1"/>
              <p:nvPr/>
            </p:nvSpPr>
            <p:spPr>
              <a:xfrm>
                <a:off x="4355976" y="4077072"/>
                <a:ext cx="3811428" cy="3987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US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P</m:t>
                        </m:r>
                        <m:r>
                          <a:rPr lang="es-US" b="0" i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es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∪</m:t>
                    </m:r>
                    <m:r>
                      <m:rPr>
                        <m:nor/>
                      </m:rPr>
                      <a:rPr lang="es-US" dirty="0"/>
                      <m:t> 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US" dirty="0" smtClean="0"/>
                  <a:t>)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US" i="1" dirty="0">
                        <a:latin typeface="Cambria Math"/>
                        <a:ea typeface="Cambria Math"/>
                      </a:rPr>
                      <m:t>P</m:t>
                    </m:r>
                    <m:r>
                      <a:rPr lang="es-US" b="0" i="1" dirty="0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>
                            <a:latin typeface="Cambria Math"/>
                          </a:rPr>
                          <m:t>BC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>
                            <a:latin typeface="Cambria Math"/>
                          </a:rPr>
                          <m:t>BC</m:t>
                        </m:r>
                      </m:e>
                      <m:sub>
                        <m:r>
                          <a:rPr lang="es-US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US" dirty="0" smtClean="0"/>
                  <a:t>)=</a:t>
                </a:r>
                <a:endParaRPr lang="es-US" dirty="0"/>
              </a:p>
            </p:txBody>
          </p:sp>
        </mc:Choice>
        <mc:Fallback xmlns=""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077072"/>
                <a:ext cx="3811428" cy="398764"/>
              </a:xfrm>
              <a:prstGeom prst="rect">
                <a:avLst/>
              </a:prstGeom>
              <a:blipFill rotWithShape="1">
                <a:blip r:embed="rId12"/>
                <a:stretch>
                  <a:fillRect t="-6154" r="-640" b="-1846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32 Llamada ovalada"/>
          <p:cNvSpPr/>
          <p:nvPr/>
        </p:nvSpPr>
        <p:spPr>
          <a:xfrm>
            <a:off x="2516455" y="3363724"/>
            <a:ext cx="1674038" cy="504697"/>
          </a:xfrm>
          <a:prstGeom prst="wedgeEllipseCallout">
            <a:avLst>
              <a:gd name="adj1" fmla="val -35137"/>
              <a:gd name="adj2" fmla="val 1056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dirty="0" smtClean="0"/>
              <a:t>independencia</a:t>
            </a:r>
            <a:endParaRPr lang="es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33 CuadroTexto"/>
              <p:cNvSpPr txBox="1"/>
              <p:nvPr/>
            </p:nvSpPr>
            <p:spPr>
              <a:xfrm>
                <a:off x="179512" y="4509120"/>
                <a:ext cx="4811638" cy="3987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US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P</m:t>
                        </m:r>
                        <m:r>
                          <a:rPr lang="es-US" b="0" i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n-US" i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0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es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i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0">
                        <a:latin typeface="Cambria Math"/>
                        <a:ea typeface="Cambria Math"/>
                      </a:rPr>
                      <m:t>∪</m:t>
                    </m:r>
                    <m:r>
                      <m:rPr>
                        <m:nor/>
                      </m:rPr>
                      <a:rPr lang="es-US" dirty="0"/>
                      <m:t> 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b="0" i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US" dirty="0" smtClean="0"/>
                  <a:t>)=1-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 i="0" smtClean="0">
                            <a:latin typeface="Cambria Math"/>
                          </a:rPr>
                          <m:t>P</m:t>
                        </m:r>
                        <m:r>
                          <a:rPr lang="es-US" i="0" smtClean="0"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s-US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US" b="0" i="0" smtClean="0">
                                <a:latin typeface="Cambria Math"/>
                              </a:rPr>
                              <m:t>AB</m:t>
                            </m:r>
                          </m:e>
                        </m:acc>
                      </m:e>
                      <m:sub>
                        <m:r>
                          <a:rPr lang="en-US" i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0" smtClean="0">
                        <a:latin typeface="Cambria Math"/>
                        <a:ea typeface="Cambria Math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US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US" b="0" i="0" smtClean="0">
                                <a:latin typeface="Cambria Math"/>
                                <a:ea typeface="Cambria Math"/>
                              </a:rPr>
                              <m:t>AB</m:t>
                            </m:r>
                          </m:e>
                          <m:sub>
                            <m:r>
                              <a:rPr lang="es-US" b="0" i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s-US" i="0" smtClean="0">
                        <a:latin typeface="Cambria Math"/>
                        <a:ea typeface="Cambria Math"/>
                      </a:rPr>
                      <m:t>∩</m:t>
                    </m:r>
                    <m:acc>
                      <m:accPr>
                        <m:chr m:val="̅"/>
                        <m:ctrlPr>
                          <a:rPr lang="es-US" i="1" smtClean="0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US" b="0" i="0" smtClean="0">
                                <a:latin typeface="Cambria Math"/>
                                <a:ea typeface="Cambria Math"/>
                              </a:rPr>
                              <m:t>AB</m:t>
                            </m:r>
                          </m:e>
                          <m:sub>
                            <m:r>
                              <a:rPr lang="es-US" b="0" i="0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s-US" dirty="0" smtClean="0"/>
                  <a:t>)</a:t>
                </a:r>
                <a:endParaRPr lang="es-US" dirty="0"/>
              </a:p>
            </p:txBody>
          </p:sp>
        </mc:Choice>
        <mc:Fallback xmlns="">
          <p:sp>
            <p:nvSpPr>
              <p:cNvPr id="34" name="3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509120"/>
                <a:ext cx="4811638" cy="398764"/>
              </a:xfrm>
              <a:prstGeom prst="rect">
                <a:avLst/>
              </a:prstGeom>
              <a:blipFill rotWithShape="1">
                <a:blip r:embed="rId13"/>
                <a:stretch>
                  <a:fillRect l="-759" t="-6154" r="-380" b="-1846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34 CuadroTexto"/>
              <p:cNvSpPr txBox="1"/>
              <p:nvPr/>
            </p:nvSpPr>
            <p:spPr>
              <a:xfrm>
                <a:off x="467544" y="4869160"/>
                <a:ext cx="4743671" cy="3987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US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P</m:t>
                        </m:r>
                        <m:r>
                          <a:rPr lang="es-US" b="0" i="0" smtClean="0">
                            <a:latin typeface="Cambria Math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n-US" i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0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es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i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0">
                        <a:latin typeface="Cambria Math"/>
                        <a:ea typeface="Cambria Math"/>
                      </a:rPr>
                      <m:t>∪</m:t>
                    </m:r>
                    <m:r>
                      <m:rPr>
                        <m:nor/>
                      </m:rPr>
                      <a:rPr lang="es-US" dirty="0"/>
                      <m:t> 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b="0" i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US" dirty="0" smtClean="0"/>
                  <a:t>)=1-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 i="0" smtClean="0">
                            <a:latin typeface="Cambria Math"/>
                          </a:rPr>
                          <m:t>P</m:t>
                        </m:r>
                        <m:r>
                          <a:rPr lang="es-US" i="0" smtClean="0"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s-US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US" b="0" i="0" smtClean="0">
                                <a:latin typeface="Cambria Math"/>
                              </a:rPr>
                              <m:t>AB</m:t>
                            </m:r>
                          </m:e>
                        </m:acc>
                      </m:e>
                      <m:sub>
                        <m:r>
                          <a:rPr lang="en-US" i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US" b="0" i="0" smtClean="0"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d>
                      <m:dPr>
                        <m:ctrlPr>
                          <a:rPr lang="es-US" b="0" i="1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/>
                                <a:ea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US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US" b="0" i="0" smtClean="0">
                                    <a:latin typeface="Cambria Math"/>
                                    <a:ea typeface="Cambria Math"/>
                                  </a:rPr>
                                  <m:t>AB</m:t>
                                </m:r>
                              </m:e>
                              <m:sub>
                                <m:r>
                                  <a:rPr lang="es-US" b="0" i="0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s-US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s-US" b="0" i="0" smtClean="0">
                        <a:latin typeface="Cambria Math"/>
                      </a:rPr>
                      <m:t>P</m:t>
                    </m:r>
                    <m:r>
                      <a:rPr lang="es-US" b="0" i="0" smtClean="0">
                        <a:latin typeface="Cambria Math"/>
                      </a:rPr>
                      <m:t>(</m:t>
                    </m:r>
                    <m:acc>
                      <m:accPr>
                        <m:chr m:val="̅"/>
                        <m:ctrlPr>
                          <a:rPr lang="es-US" i="1" smtClean="0">
                            <a:latin typeface="Cambria Math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US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US" b="0" i="0" smtClean="0">
                                <a:latin typeface="Cambria Math"/>
                                <a:ea typeface="Cambria Math"/>
                              </a:rPr>
                              <m:t>AB</m:t>
                            </m:r>
                          </m:e>
                          <m:sub>
                            <m:r>
                              <a:rPr lang="es-US" b="0" i="0" smtClean="0">
                                <a:latin typeface="Cambria Math"/>
                                <a:ea typeface="Cambria Math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s-US" dirty="0" smtClean="0"/>
                  <a:t>)</a:t>
                </a:r>
                <a:endParaRPr lang="es-US" dirty="0"/>
              </a:p>
            </p:txBody>
          </p:sp>
        </mc:Choice>
        <mc:Fallback xmlns="">
          <p:sp>
            <p:nvSpPr>
              <p:cNvPr id="35" name="3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869160"/>
                <a:ext cx="4743671" cy="398764"/>
              </a:xfrm>
              <a:prstGeom prst="rect">
                <a:avLst/>
              </a:prstGeom>
              <a:blipFill rotWithShape="1">
                <a:blip r:embed="rId14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43 Grupo"/>
          <p:cNvGrpSpPr/>
          <p:nvPr/>
        </p:nvGrpSpPr>
        <p:grpSpPr>
          <a:xfrm>
            <a:off x="151317" y="6125939"/>
            <a:ext cx="7068730" cy="399405"/>
            <a:chOff x="151317" y="6125939"/>
            <a:chExt cx="7068730" cy="3994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37 CuadroTexto"/>
                <p:cNvSpPr txBox="1"/>
                <p:nvPr/>
              </p:nvSpPr>
              <p:spPr>
                <a:xfrm>
                  <a:off x="151317" y="6125939"/>
                  <a:ext cx="7068730" cy="399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Entonces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   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P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[(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/>
                          <a:ea typeface="Cambria Math"/>
                        </a:rPr>
                        <m:t>∪</m:t>
                      </m:r>
                    </m:oMath>
                  </a14:m>
                  <a:r>
                    <a:rPr lang="es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s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  <a:ea typeface="Cambria Math"/>
                        </a:rPr>
                        <m:t>∪</m:t>
                      </m:r>
                      <m:r>
                        <m:rPr>
                          <m:nor/>
                        </m:rPr>
                        <a:rPr lang="es-US" dirty="0"/>
                        <m:t> </m:t>
                      </m:r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s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s-US" dirty="0" smtClean="0"/>
                    <a:t>)</a:t>
                  </a:r>
                  <a14:m>
                    <m:oMath xmlns:m="http://schemas.openxmlformats.org/officeDocument/2006/math">
                      <m:r>
                        <a:rPr lang="es-US" i="1" dirty="0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es-US" b="0" i="1" dirty="0" smtClean="0">
                          <a:latin typeface="Cambria Math"/>
                          <a:ea typeface="Cambria Math"/>
                        </a:rPr>
                        <m:t>(</m:t>
                      </m:r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>
                              <a:latin typeface="Cambria Math"/>
                            </a:rPr>
                            <m:t>BC</m:t>
                          </m:r>
                        </m:e>
                        <m:sub>
                          <m:r>
                            <a:rPr 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 smtClean="0">
                          <a:latin typeface="Cambria Math"/>
                          <a:ea typeface="Cambria Math"/>
                        </a:rPr>
                        <m:t>∪</m:t>
                      </m:r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>
                              <a:latin typeface="Cambria Math"/>
                            </a:rPr>
                            <m:t>BC</m:t>
                          </m:r>
                        </m:e>
                        <m:sub>
                          <m:r>
                            <a:rPr lang="es-US" b="0" i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s-US" dirty="0" smtClean="0"/>
                    <a:t>)]=0,999  .  0,99=0,98901</a:t>
                  </a:r>
                  <a:endParaRPr lang="es-US" dirty="0"/>
                </a:p>
              </p:txBody>
            </p:sp>
          </mc:Choice>
          <mc:Fallback>
            <p:sp>
              <p:nvSpPr>
                <p:cNvPr id="38" name="37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317" y="6125939"/>
                  <a:ext cx="7068730" cy="399405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7692" b="-16923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38 Rectángulo"/>
            <p:cNvSpPr/>
            <p:nvPr/>
          </p:nvSpPr>
          <p:spPr>
            <a:xfrm>
              <a:off x="1170591" y="6125939"/>
              <a:ext cx="5999513" cy="3994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</p:grpSp>
      <p:grpSp>
        <p:nvGrpSpPr>
          <p:cNvPr id="42" name="41 Grupo"/>
          <p:cNvGrpSpPr/>
          <p:nvPr/>
        </p:nvGrpSpPr>
        <p:grpSpPr>
          <a:xfrm>
            <a:off x="467544" y="5301208"/>
            <a:ext cx="4429226" cy="398764"/>
            <a:chOff x="467544" y="5301208"/>
            <a:chExt cx="4429226" cy="3987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35 CuadroTexto"/>
                <p:cNvSpPr txBox="1"/>
                <p:nvPr/>
              </p:nvSpPr>
              <p:spPr>
                <a:xfrm>
                  <a:off x="467544" y="5301208"/>
                  <a:ext cx="4429226" cy="3987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P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/>
                          <a:ea typeface="Cambria Math"/>
                        </a:rPr>
                        <m:t>∪</m:t>
                      </m:r>
                    </m:oMath>
                  </a14:m>
                  <a:r>
                    <a:rPr lang="es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s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  <a:ea typeface="Cambria Math"/>
                        </a:rPr>
                        <m:t>∪</m:t>
                      </m:r>
                      <m:r>
                        <m:rPr>
                          <m:nor/>
                        </m:rPr>
                        <a:rPr lang="es-US" dirty="0"/>
                        <m:t> </m:t>
                      </m:r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AB</m:t>
                          </m:r>
                        </m:e>
                        <m:sub>
                          <m:r>
                            <a:rPr lang="es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s-US" dirty="0" smtClean="0"/>
                    <a:t>)=1- 0,1 . 0,1 . 0,1=0,999</a:t>
                  </a:r>
                  <a:endParaRPr lang="es-US" dirty="0"/>
                </a:p>
              </p:txBody>
            </p:sp>
          </mc:Choice>
          <mc:Fallback xmlns="">
            <p:sp>
              <p:nvSpPr>
                <p:cNvPr id="36" name="3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44" y="5301208"/>
                  <a:ext cx="4429226" cy="398764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6154" r="-138" b="-18462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39 Rectángulo"/>
            <p:cNvSpPr/>
            <p:nvPr/>
          </p:nvSpPr>
          <p:spPr>
            <a:xfrm>
              <a:off x="4211960" y="5301208"/>
              <a:ext cx="586191" cy="398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</p:grpSp>
      <p:grpSp>
        <p:nvGrpSpPr>
          <p:cNvPr id="43" name="42 Grupo"/>
          <p:cNvGrpSpPr/>
          <p:nvPr/>
        </p:nvGrpSpPr>
        <p:grpSpPr>
          <a:xfrm>
            <a:off x="179512" y="5694532"/>
            <a:ext cx="5782609" cy="408056"/>
            <a:chOff x="179512" y="5694532"/>
            <a:chExt cx="5782609" cy="4080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36 CuadroTexto"/>
                <p:cNvSpPr txBox="1"/>
                <p:nvPr/>
              </p:nvSpPr>
              <p:spPr>
                <a:xfrm>
                  <a:off x="179512" y="5733256"/>
                  <a:ext cx="57826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§"/>
                  </a:pPr>
                  <a:r>
                    <a:rPr lang="es-US" dirty="0" smtClean="0"/>
                    <a:t>Análogamente se calcula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P</m:t>
                          </m:r>
                          <m:r>
                            <a:rPr lang="es-US" b="0" i="0" smtClean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BC</m:t>
                          </m:r>
                        </m:e>
                        <m:sub>
                          <m:r>
                            <a:rPr lang="en-US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/>
                          <a:ea typeface="Cambria Math"/>
                        </a:rPr>
                        <m:t>∪</m:t>
                      </m:r>
                    </m:oMath>
                  </a14:m>
                  <a:r>
                    <a:rPr lang="es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US" b="0" i="0" smtClean="0">
                              <a:latin typeface="Cambria Math"/>
                            </a:rPr>
                            <m:t>BC</m:t>
                          </m:r>
                        </m:e>
                        <m:sub>
                          <m:r>
                            <a:rPr lang="es-US" i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s-US" dirty="0" smtClean="0"/>
                    <a:t>)=1- 0,1 . 0,1=0,99</a:t>
                  </a:r>
                  <a:endParaRPr lang="es-US" dirty="0"/>
                </a:p>
              </p:txBody>
            </p:sp>
          </mc:Choice>
          <mc:Fallback xmlns="">
            <p:sp>
              <p:nvSpPr>
                <p:cNvPr id="37" name="36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5733256"/>
                  <a:ext cx="5782609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632" t="-8197" b="-24590"/>
                  </a:stretch>
                </a:blipFill>
              </p:spPr>
              <p:txBody>
                <a:bodyPr/>
                <a:lstStyle/>
                <a:p>
                  <a:r>
                    <a:rPr lang="es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40 Rectángulo"/>
            <p:cNvSpPr/>
            <p:nvPr/>
          </p:nvSpPr>
          <p:spPr>
            <a:xfrm>
              <a:off x="5396941" y="5694532"/>
              <a:ext cx="468235" cy="3987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S"/>
            </a:p>
          </p:txBody>
        </p:sp>
      </p:grpSp>
      <p:grpSp>
        <p:nvGrpSpPr>
          <p:cNvPr id="49" name="48 Grupo"/>
          <p:cNvGrpSpPr/>
          <p:nvPr/>
        </p:nvGrpSpPr>
        <p:grpSpPr>
          <a:xfrm>
            <a:off x="3353474" y="3868421"/>
            <a:ext cx="858486" cy="640699"/>
            <a:chOff x="3353474" y="3868421"/>
            <a:chExt cx="858486" cy="640699"/>
          </a:xfrm>
        </p:grpSpPr>
        <p:cxnSp>
          <p:nvCxnSpPr>
            <p:cNvPr id="46" name="45 Conector recto de flecha"/>
            <p:cNvCxnSpPr>
              <a:stCxn id="33" idx="4"/>
            </p:cNvCxnSpPr>
            <p:nvPr/>
          </p:nvCxnSpPr>
          <p:spPr>
            <a:xfrm>
              <a:off x="3353474" y="3868421"/>
              <a:ext cx="229648" cy="64069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47 Conector recto de flecha"/>
            <p:cNvCxnSpPr/>
            <p:nvPr/>
          </p:nvCxnSpPr>
          <p:spPr>
            <a:xfrm>
              <a:off x="3583122" y="3882039"/>
              <a:ext cx="628838" cy="62708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187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3041368" y="580907"/>
            <a:ext cx="5841880" cy="1821191"/>
            <a:chOff x="3203848" y="2265173"/>
            <a:chExt cx="5841880" cy="1821191"/>
          </a:xfrm>
        </p:grpSpPr>
        <p:grpSp>
          <p:nvGrpSpPr>
            <p:cNvPr id="5" name="4 Grupo"/>
            <p:cNvGrpSpPr/>
            <p:nvPr/>
          </p:nvGrpSpPr>
          <p:grpSpPr>
            <a:xfrm>
              <a:off x="3203848" y="2635661"/>
              <a:ext cx="5841880" cy="1154630"/>
              <a:chOff x="3347864" y="2635661"/>
              <a:chExt cx="5841880" cy="1154630"/>
            </a:xfrm>
          </p:grpSpPr>
          <p:grpSp>
            <p:nvGrpSpPr>
              <p:cNvPr id="12" name="11 Grupo"/>
              <p:cNvGrpSpPr/>
              <p:nvPr/>
            </p:nvGrpSpPr>
            <p:grpSpPr>
              <a:xfrm>
                <a:off x="3664362" y="2635661"/>
                <a:ext cx="5372134" cy="1154630"/>
                <a:chOff x="870564" y="2635661"/>
                <a:chExt cx="5372134" cy="1154630"/>
              </a:xfrm>
            </p:grpSpPr>
            <p:grpSp>
              <p:nvGrpSpPr>
                <p:cNvPr id="16" name="15 Grupo"/>
                <p:cNvGrpSpPr/>
                <p:nvPr/>
              </p:nvGrpSpPr>
              <p:grpSpPr>
                <a:xfrm>
                  <a:off x="870564" y="2635661"/>
                  <a:ext cx="5349236" cy="1154630"/>
                  <a:chOff x="870564" y="2635661"/>
                  <a:chExt cx="5349236" cy="1154630"/>
                </a:xfrm>
              </p:grpSpPr>
              <p:grpSp>
                <p:nvGrpSpPr>
                  <p:cNvPr id="19" name="18 Grupo"/>
                  <p:cNvGrpSpPr/>
                  <p:nvPr/>
                </p:nvGrpSpPr>
                <p:grpSpPr>
                  <a:xfrm>
                    <a:off x="899592" y="2635661"/>
                    <a:ext cx="5320208" cy="1154630"/>
                    <a:chOff x="899592" y="2635661"/>
                    <a:chExt cx="5320208" cy="1154630"/>
                  </a:xfrm>
                </p:grpSpPr>
                <p:sp>
                  <p:nvSpPr>
                    <p:cNvPr id="21" name="20 Elipse"/>
                    <p:cNvSpPr/>
                    <p:nvPr/>
                  </p:nvSpPr>
                  <p:spPr>
                    <a:xfrm>
                      <a:off x="899592" y="2708920"/>
                      <a:ext cx="2232248" cy="1008112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US"/>
                    </a:p>
                  </p:txBody>
                </p:sp>
                <p:sp>
                  <p:nvSpPr>
                    <p:cNvPr id="22" name="21 Elipse"/>
                    <p:cNvSpPr/>
                    <p:nvPr/>
                  </p:nvSpPr>
                  <p:spPr>
                    <a:xfrm>
                      <a:off x="3131840" y="2635661"/>
                      <a:ext cx="3087960" cy="115463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US"/>
                    </a:p>
                  </p:txBody>
                </p:sp>
                <p:cxnSp>
                  <p:nvCxnSpPr>
                    <p:cNvPr id="23" name="22 Conector recto"/>
                    <p:cNvCxnSpPr>
                      <a:stCxn id="21" idx="2"/>
                      <a:endCxn id="21" idx="6"/>
                    </p:cNvCxnSpPr>
                    <p:nvPr/>
                  </p:nvCxnSpPr>
                  <p:spPr>
                    <a:xfrm>
                      <a:off x="899592" y="3212976"/>
                      <a:ext cx="2232248" cy="0"/>
                    </a:xfrm>
                    <a:prstGeom prst="line">
                      <a:avLst/>
                    </a:prstGeom>
                    <a:ln w="2222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0" name="19 Elipse"/>
                  <p:cNvSpPr/>
                  <p:nvPr/>
                </p:nvSpPr>
                <p:spPr>
                  <a:xfrm>
                    <a:off x="870564" y="3169996"/>
                    <a:ext cx="72008" cy="7200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US"/>
                  </a:p>
                </p:txBody>
              </p:sp>
            </p:grpSp>
            <p:sp>
              <p:nvSpPr>
                <p:cNvPr id="17" name="16 Elipse"/>
                <p:cNvSpPr/>
                <p:nvPr/>
              </p:nvSpPr>
              <p:spPr>
                <a:xfrm>
                  <a:off x="3102812" y="3184510"/>
                  <a:ext cx="72008" cy="7200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US"/>
                </a:p>
              </p:txBody>
            </p:sp>
            <p:sp>
              <p:nvSpPr>
                <p:cNvPr id="18" name="17 Elipse"/>
                <p:cNvSpPr/>
                <p:nvPr/>
              </p:nvSpPr>
              <p:spPr>
                <a:xfrm>
                  <a:off x="6170690" y="3169996"/>
                  <a:ext cx="72008" cy="7200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US"/>
                </a:p>
              </p:txBody>
            </p:sp>
          </p:grpSp>
          <p:sp>
            <p:nvSpPr>
              <p:cNvPr id="13" name="12 CuadroTexto"/>
              <p:cNvSpPr txBox="1"/>
              <p:nvPr/>
            </p:nvSpPr>
            <p:spPr>
              <a:xfrm>
                <a:off x="3347864" y="2924944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A</a:t>
                </a:r>
                <a:endParaRPr lang="es-US" dirty="0"/>
              </a:p>
            </p:txBody>
          </p:sp>
          <p:sp>
            <p:nvSpPr>
              <p:cNvPr id="14" name="13 CuadroTexto"/>
              <p:cNvSpPr txBox="1"/>
              <p:nvPr/>
            </p:nvSpPr>
            <p:spPr>
              <a:xfrm>
                <a:off x="5737752" y="2635661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B</a:t>
                </a:r>
                <a:endParaRPr lang="es-US" dirty="0"/>
              </a:p>
            </p:txBody>
          </p:sp>
          <p:sp>
            <p:nvSpPr>
              <p:cNvPr id="15" name="14 CuadroTexto"/>
              <p:cNvSpPr txBox="1"/>
              <p:nvPr/>
            </p:nvSpPr>
            <p:spPr>
              <a:xfrm>
                <a:off x="8881646" y="274027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US" dirty="0" smtClean="0"/>
                  <a:t>C</a:t>
                </a:r>
                <a:endParaRPr lang="es-US" dirty="0"/>
              </a:p>
            </p:txBody>
          </p:sp>
        </p:grpSp>
        <p:grpSp>
          <p:nvGrpSpPr>
            <p:cNvPr id="6" name="5 Grupo"/>
            <p:cNvGrpSpPr/>
            <p:nvPr/>
          </p:nvGrpSpPr>
          <p:grpSpPr>
            <a:xfrm>
              <a:off x="4319811" y="2265173"/>
              <a:ext cx="3316271" cy="1821191"/>
              <a:chOff x="4319811" y="2265173"/>
              <a:chExt cx="3316271" cy="182119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6 CuadroTexto"/>
                  <p:cNvSpPr txBox="1"/>
                  <p:nvPr/>
                </p:nvSpPr>
                <p:spPr>
                  <a:xfrm>
                    <a:off x="4319811" y="2308230"/>
                    <a:ext cx="6254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7" name="6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9811" y="2308230"/>
                    <a:ext cx="625428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7 CuadroTexto"/>
                  <p:cNvSpPr txBox="1"/>
                  <p:nvPr/>
                </p:nvSpPr>
                <p:spPr>
                  <a:xfrm>
                    <a:off x="4359230" y="2727392"/>
                    <a:ext cx="58600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a:rPr lang="es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8" name="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9230" y="2727392"/>
                    <a:ext cx="586009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8 CuadroTexto"/>
                  <p:cNvSpPr txBox="1"/>
                  <p:nvPr/>
                </p:nvSpPr>
                <p:spPr>
                  <a:xfrm>
                    <a:off x="4427984" y="3635732"/>
                    <a:ext cx="6302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AB</m:t>
                              </m:r>
                            </m:e>
                            <m:sub>
                              <m:r>
                                <a:rPr lang="es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9" name="8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7984" y="3635732"/>
                    <a:ext cx="63023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9 CuadroTexto"/>
                  <p:cNvSpPr txBox="1"/>
                  <p:nvPr/>
                </p:nvSpPr>
                <p:spPr>
                  <a:xfrm>
                    <a:off x="7017248" y="2265173"/>
                    <a:ext cx="61670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latin typeface="Cambria Math"/>
                                </a:rPr>
                                <m:t>BC</m:t>
                              </m:r>
                            </m:e>
                            <m:sub>
                              <m:r>
                                <a:rPr lang="en-US" i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10" name="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7248" y="2265173"/>
                    <a:ext cx="616707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10 CuadroTexto"/>
                  <p:cNvSpPr txBox="1"/>
                  <p:nvPr/>
                </p:nvSpPr>
                <p:spPr>
                  <a:xfrm>
                    <a:off x="7020272" y="3717032"/>
                    <a:ext cx="61581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US" b="0" i="0" smtClean="0">
                                  <a:latin typeface="Cambria Math"/>
                                </a:rPr>
                                <m:t>BC</m:t>
                              </m:r>
                            </m:e>
                            <m:sub>
                              <m:r>
                                <a:rPr lang="es-US" b="0" i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US" dirty="0"/>
                  </a:p>
                </p:txBody>
              </p:sp>
            </mc:Choice>
            <mc:Fallback xmlns="">
              <p:sp>
                <p:nvSpPr>
                  <p:cNvPr id="11" name="1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0272" y="3717032"/>
                    <a:ext cx="615810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4" name="23 Rectángulo"/>
          <p:cNvSpPr/>
          <p:nvPr/>
        </p:nvSpPr>
        <p:spPr>
          <a:xfrm>
            <a:off x="4309731" y="1500244"/>
            <a:ext cx="473028" cy="2725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5" name="24 Rectángulo"/>
          <p:cNvSpPr/>
          <p:nvPr/>
        </p:nvSpPr>
        <p:spPr>
          <a:xfrm>
            <a:off x="4265504" y="1425344"/>
            <a:ext cx="630236" cy="347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25 CuadroTexto"/>
              <p:cNvSpPr txBox="1"/>
              <p:nvPr/>
            </p:nvSpPr>
            <p:spPr>
              <a:xfrm>
                <a:off x="40331" y="2400656"/>
                <a:ext cx="3771417" cy="399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US" b="1" i="0" smtClean="0">
                            <a:latin typeface="Cambria Math"/>
                          </a:rPr>
                          <m:t>𝐛</m:t>
                        </m:r>
                        <m:r>
                          <a:rPr lang="es-US" b="1" i="0" smtClean="0">
                            <a:latin typeface="Cambria Math"/>
                          </a:rPr>
                          <m:t>)</m:t>
                        </m:r>
                        <m:r>
                          <a:rPr lang="es-US" b="0" i="0" smtClean="0">
                            <a:latin typeface="Cambria Math"/>
                          </a:rPr>
                          <m:t>      </m:t>
                        </m:r>
                        <m:r>
                          <m:rPr>
                            <m:sty m:val="p"/>
                          </m:rPr>
                          <a:rPr lang="es-US" b="0" i="0" smtClean="0">
                            <a:latin typeface="Cambria Math"/>
                          </a:rPr>
                          <m:t>P</m:t>
                        </m:r>
                        <m:r>
                          <a:rPr lang="es-US" b="0" i="0" smtClean="0">
                            <a:latin typeface="Cambria Math"/>
                          </a:rPr>
                          <m:t>[(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</m:oMath>
                </a14:m>
                <a:r>
                  <a:rPr lang="es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AB</m:t>
                        </m:r>
                      </m:e>
                      <m:sub>
                        <m:r>
                          <a:rPr lang="es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US" dirty="0" smtClean="0"/>
                  <a:t>)</a:t>
                </a:r>
                <a14:m>
                  <m:oMath xmlns:m="http://schemas.openxmlformats.org/officeDocument/2006/math">
                    <m:r>
                      <a:rPr lang="es-US" i="1" dirty="0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es-US" b="0" i="1" dirty="0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>
                            <a:latin typeface="Cambria Math"/>
                          </a:rPr>
                          <m:t>BC</m:t>
                        </m:r>
                      </m:e>
                      <m:sub>
                        <m:r>
                          <a:rPr lang="en-US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s-US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US">
                            <a:latin typeface="Cambria Math"/>
                          </a:rPr>
                          <m:t>BC</m:t>
                        </m:r>
                      </m:e>
                      <m:sub>
                        <m:r>
                          <a:rPr lang="es-US" b="0" i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US" dirty="0" smtClean="0"/>
                  <a:t>)]=</a:t>
                </a:r>
                <a:endParaRPr lang="es-US" dirty="0"/>
              </a:p>
            </p:txBody>
          </p:sp>
        </mc:Choice>
        <mc:Fallback xmlns=""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" y="2400656"/>
                <a:ext cx="3771417" cy="399405"/>
              </a:xfrm>
              <a:prstGeom prst="rect">
                <a:avLst/>
              </a:prstGeom>
              <a:blipFill rotWithShape="1">
                <a:blip r:embed="rId7"/>
                <a:stretch>
                  <a:fillRect t="-6154" r="-809" b="-1846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CuadroTexto"/>
              <p:cNvSpPr txBox="1"/>
              <p:nvPr/>
            </p:nvSpPr>
            <p:spPr>
              <a:xfrm>
                <a:off x="2195736" y="3902983"/>
                <a:ext cx="3674211" cy="36933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US" i="1" smtClean="0">
                        <a:latin typeface="Cambria Math"/>
                      </a:rPr>
                      <m:t>𝑅</m:t>
                    </m:r>
                    <m:r>
                      <a:rPr lang="es-US" b="0" i="1" smtClean="0">
                        <a:latin typeface="Cambria Math"/>
                      </a:rPr>
                      <m:t>𝑒𝑝𝑒𝑡𝑖𝑟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𝑝𝑟𝑜𝑐𝑒𝑑𝑖𝑚𝑖𝑒𝑛𝑡𝑜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0" i="1" smtClean="0">
                        <a:latin typeface="Cambria Math"/>
                      </a:rPr>
                      <m:t>𝑑𝑒𝑙</m:t>
                    </m:r>
                    <m:r>
                      <a:rPr lang="es-US" b="0" i="1" smtClean="0">
                        <a:latin typeface="Cambria Math"/>
                      </a:rPr>
                      <m:t> í</m:t>
                    </m:r>
                    <m:r>
                      <a:rPr lang="es-US" b="0" i="1" smtClean="0">
                        <a:latin typeface="Cambria Math"/>
                      </a:rPr>
                      <m:t>𝑡𝑒𝑚</m:t>
                    </m:r>
                    <m:r>
                      <a:rPr lang="es-US" b="0" i="1" smtClean="0">
                        <a:latin typeface="Cambria Math"/>
                      </a:rPr>
                      <m:t> </m:t>
                    </m:r>
                    <m:r>
                      <a:rPr lang="es-US" b="1" i="0" smtClean="0">
                        <a:latin typeface="Cambria Math"/>
                      </a:rPr>
                      <m:t>𝐚</m:t>
                    </m:r>
                  </m:oMath>
                </a14:m>
                <a:r>
                  <a:rPr lang="es-US" b="1" dirty="0" smtClean="0"/>
                  <a:t>)</a:t>
                </a:r>
                <a:endParaRPr lang="es-US" b="1" dirty="0"/>
              </a:p>
            </p:txBody>
          </p:sp>
        </mc:Choice>
        <mc:Fallback xmlns=""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902983"/>
                <a:ext cx="367421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6349" r="-66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04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1037</Words>
  <Application>Microsoft Office PowerPoint</Application>
  <PresentationFormat>Presentación en pantalla (4:3)</PresentationFormat>
  <Paragraphs>226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Salaberry</dc:creator>
  <cp:lastModifiedBy>Andrea</cp:lastModifiedBy>
  <cp:revision>50</cp:revision>
  <dcterms:created xsi:type="dcterms:W3CDTF">2020-04-07T18:21:27Z</dcterms:created>
  <dcterms:modified xsi:type="dcterms:W3CDTF">2021-04-08T18:31:03Z</dcterms:modified>
</cp:coreProperties>
</file>