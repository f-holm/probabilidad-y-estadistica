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8" autoAdjust="0"/>
    <p:restoredTop sz="94721" autoAdjust="0"/>
  </p:normalViewPr>
  <p:slideViewPr>
    <p:cSldViewPr>
      <p:cViewPr>
        <p:scale>
          <a:sx n="66" d="100"/>
          <a:sy n="66" d="100"/>
        </p:scale>
        <p:origin x="-1452" y="-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14.wmf"/><Relationship Id="rId2" Type="http://schemas.openxmlformats.org/officeDocument/2006/relationships/image" Target="../media/image4.wmf"/><Relationship Id="rId1" Type="http://schemas.openxmlformats.org/officeDocument/2006/relationships/image" Target="../media/image11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D3ED1-0753-40D0-A968-D85444424374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5A6F5-0F40-42BC-AE36-AB09CC1C65E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39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6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11" Type="http://schemas.openxmlformats.org/officeDocument/2006/relationships/image" Target="../media/image31.wmf"/><Relationship Id="rId5" Type="http://schemas.openxmlformats.org/officeDocument/2006/relationships/oleObject" Target="../embeddings/oleObject30.bin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28.wmf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7.wmf"/><Relationship Id="rId3" Type="http://schemas.openxmlformats.org/officeDocument/2006/relationships/image" Target="../media/image32.png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9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971600" y="6223360"/>
            <a:ext cx="6696744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5" name="4 CuadroTexto"/>
          <p:cNvSpPr txBox="1"/>
          <p:nvPr/>
        </p:nvSpPr>
        <p:spPr>
          <a:xfrm>
            <a:off x="357158" y="285728"/>
            <a:ext cx="83471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5.</a:t>
            </a:r>
            <a:r>
              <a:rPr lang="es-ES" dirty="0"/>
              <a:t> Los frascos de mermelada tienen por lo general dos tipos de fallas: peso insuficiente </a:t>
            </a:r>
            <a:endParaRPr lang="es-ES" dirty="0" smtClean="0"/>
          </a:p>
          <a:p>
            <a:r>
              <a:rPr lang="es-ES" dirty="0" smtClean="0"/>
              <a:t>o </a:t>
            </a:r>
            <a:r>
              <a:rPr lang="es-ES" dirty="0"/>
              <a:t>tapa no </a:t>
            </a:r>
            <a:r>
              <a:rPr lang="es-ES" dirty="0" smtClean="0"/>
              <a:t>hermética. </a:t>
            </a:r>
            <a:r>
              <a:rPr lang="es-ES" dirty="0"/>
              <a:t>El 12% contiene menos cantidad de la informada en la etiqueta, </a:t>
            </a:r>
            <a:endParaRPr lang="es-ES" dirty="0" smtClean="0"/>
          </a:p>
          <a:p>
            <a:r>
              <a:rPr lang="es-ES" dirty="0" smtClean="0"/>
              <a:t>el </a:t>
            </a:r>
            <a:r>
              <a:rPr lang="es-ES" dirty="0"/>
              <a:t>8% tiene problemas con la tapa y el 3</a:t>
            </a:r>
            <a:r>
              <a:rPr lang="es-ES" dirty="0" smtClean="0"/>
              <a:t>%  </a:t>
            </a:r>
            <a:r>
              <a:rPr lang="es-ES" dirty="0"/>
              <a:t>presenta ambas deficiencias. Los frascos </a:t>
            </a:r>
            <a:r>
              <a:rPr lang="es-ES" dirty="0" smtClean="0"/>
              <a:t>en</a:t>
            </a:r>
          </a:p>
          <a:p>
            <a:r>
              <a:rPr lang="es-ES" dirty="0" smtClean="0"/>
              <a:t> </a:t>
            </a:r>
            <a:r>
              <a:rPr lang="es-ES" dirty="0"/>
              <a:t>los que se detecta alguna de estas fallas son descartados. </a:t>
            </a:r>
            <a:endParaRPr lang="es-ES" dirty="0" smtClean="0"/>
          </a:p>
          <a:p>
            <a:r>
              <a:rPr lang="es-ES" dirty="0" smtClean="0"/>
              <a:t>Hallar </a:t>
            </a:r>
            <a:r>
              <a:rPr lang="es-ES" dirty="0"/>
              <a:t>la probabilidad de que un frasco elegido al azar:</a:t>
            </a:r>
          </a:p>
          <a:p>
            <a:r>
              <a:rPr lang="es-ES" dirty="0"/>
              <a:t>a) tenga exactamente una falla.</a:t>
            </a:r>
          </a:p>
          <a:p>
            <a:r>
              <a:rPr lang="es-ES" dirty="0"/>
              <a:t>b) no sea descartado.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/>
        </p:nvGraphicFramePr>
        <p:xfrm>
          <a:off x="489251" y="2357430"/>
          <a:ext cx="3439807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" name="Ecuación" r:id="rId3" imgW="2209800" imgH="508000" progId="Equation.3">
                  <p:embed/>
                </p:oleObj>
              </mc:Choice>
              <mc:Fallback>
                <p:oleObj name="Ecuación" r:id="rId3" imgW="2209800" imgH="5080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51" y="2357430"/>
                        <a:ext cx="3439807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516092" y="2357430"/>
          <a:ext cx="1413230" cy="92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" name="Ecuación" r:id="rId5" imgW="1002865" imgH="660113" progId="Equation.3">
                  <p:embed/>
                </p:oleObj>
              </mc:Choice>
              <mc:Fallback>
                <p:oleObj name="Ecuación" r:id="rId5" imgW="1002865" imgH="660113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092" y="2357430"/>
                        <a:ext cx="1413230" cy="928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428596" y="3286124"/>
          <a:ext cx="4668984" cy="85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" name="Ecuación" r:id="rId7" imgW="2908300" imgH="533400" progId="Equation.3">
                  <p:embed/>
                </p:oleObj>
              </mc:Choice>
              <mc:Fallback>
                <p:oleObj name="Ecuación" r:id="rId7" imgW="2908300" imgH="533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3286124"/>
                        <a:ext cx="4668984" cy="857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6429388" y="1214422"/>
            <a:ext cx="1571636" cy="1000132"/>
            <a:chOff x="2358" y="13731"/>
            <a:chExt cx="1781" cy="998"/>
          </a:xfrm>
        </p:grpSpPr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358" y="13731"/>
              <a:ext cx="1781" cy="9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642" y="13958"/>
              <a:ext cx="761" cy="5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auto">
            <a:xfrm>
              <a:off x="3091" y="13958"/>
              <a:ext cx="782" cy="58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05761" y="1214422"/>
          <a:ext cx="12382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" name="Ecuación" r:id="rId9" imgW="126725" imgH="177415" progId="Equation.3">
                  <p:embed/>
                </p:oleObj>
              </mc:Choice>
              <mc:Fallback>
                <p:oleObj name="Ecuación" r:id="rId9" imgW="126725" imgH="177415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5761" y="1214422"/>
                        <a:ext cx="123825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6777054" y="1500174"/>
          <a:ext cx="152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name="Ecuación" r:id="rId11" imgW="152202" imgH="177569" progId="Equation.3">
                  <p:embed/>
                </p:oleObj>
              </mc:Choice>
              <mc:Fallback>
                <p:oleObj name="Ecuación" r:id="rId11" imgW="152202" imgH="177569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054" y="1500174"/>
                        <a:ext cx="152400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7572397" y="1571612"/>
          <a:ext cx="14287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name="Ecuación" r:id="rId13" imgW="139579" imgH="164957" progId="Equation.3">
                  <p:embed/>
                </p:oleObj>
              </mc:Choice>
              <mc:Fallback>
                <p:oleObj name="Ecuación" r:id="rId13" imgW="139579" imgH="164957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97" y="1571612"/>
                        <a:ext cx="142875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180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361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214281" y="4286256"/>
          <a:ext cx="1905013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Ecuación" r:id="rId15" imgW="1066337" imgH="203112" progId="Equation.3">
                  <p:embed/>
                </p:oleObj>
              </mc:Choice>
              <mc:Fallback>
                <p:oleObj name="Ecuación" r:id="rId15" imgW="1066337" imgH="203112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1" y="4286256"/>
                        <a:ext cx="1905013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041" name="Object 17"/>
          <p:cNvGraphicFramePr>
            <a:graphicFrameLocks noChangeAspect="1"/>
          </p:cNvGraphicFramePr>
          <p:nvPr/>
        </p:nvGraphicFramePr>
        <p:xfrm>
          <a:off x="142844" y="4643446"/>
          <a:ext cx="5181072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name="Ecuación" r:id="rId17" imgW="3708400" imgH="558800" progId="Equation.3">
                  <p:embed/>
                </p:oleObj>
              </mc:Choice>
              <mc:Fallback>
                <p:oleObj name="Ecuación" r:id="rId17" imgW="3708400" imgH="5588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4643446"/>
                        <a:ext cx="5181072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0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549610"/>
              </p:ext>
            </p:extLst>
          </p:nvPr>
        </p:nvGraphicFramePr>
        <p:xfrm>
          <a:off x="1071538" y="6315548"/>
          <a:ext cx="6454396" cy="371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name="Ecuación" r:id="rId19" imgW="3975100" imgH="228600" progId="Equation.3">
                  <p:embed/>
                </p:oleObj>
              </mc:Choice>
              <mc:Fallback>
                <p:oleObj name="Ecuación" r:id="rId19" imgW="3975100" imgH="2286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6315548"/>
                        <a:ext cx="6454396" cy="3714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27 Rectángulo"/>
          <p:cNvSpPr/>
          <p:nvPr/>
        </p:nvSpPr>
        <p:spPr>
          <a:xfrm>
            <a:off x="357158" y="285728"/>
            <a:ext cx="8429684" cy="2000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" name="Object 22"/>
          <p:cNvGraphicFramePr>
            <a:graphicFrameLocks noChangeAspect="1"/>
          </p:cNvGraphicFramePr>
          <p:nvPr/>
        </p:nvGraphicFramePr>
        <p:xfrm>
          <a:off x="142844" y="5429264"/>
          <a:ext cx="4431578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" name="Ecuación" r:id="rId21" imgW="3492500" imgH="558800" progId="Equation.3">
                  <p:embed/>
                </p:oleObj>
              </mc:Choice>
              <mc:Fallback>
                <p:oleObj name="Ecuación" r:id="rId21" imgW="3492500" imgH="55880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5429264"/>
                        <a:ext cx="4431578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3 Rectángulo"/>
          <p:cNvSpPr/>
          <p:nvPr/>
        </p:nvSpPr>
        <p:spPr>
          <a:xfrm>
            <a:off x="58056" y="5128726"/>
            <a:ext cx="2699792" cy="292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2" name="31 Rectángulo"/>
          <p:cNvSpPr/>
          <p:nvPr/>
        </p:nvSpPr>
        <p:spPr>
          <a:xfrm>
            <a:off x="107504" y="5872696"/>
            <a:ext cx="2376264" cy="292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Rectángulo"/>
          <p:cNvSpPr/>
          <p:nvPr/>
        </p:nvSpPr>
        <p:spPr>
          <a:xfrm>
            <a:off x="899592" y="5843420"/>
            <a:ext cx="6315614" cy="4943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" name="3 Rectángulo"/>
          <p:cNvSpPr/>
          <p:nvPr/>
        </p:nvSpPr>
        <p:spPr>
          <a:xfrm>
            <a:off x="3693390" y="2141984"/>
            <a:ext cx="2232248" cy="4943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2718048"/>
            <a:ext cx="8229600" cy="1143000"/>
          </a:xfrm>
        </p:spPr>
        <p:txBody>
          <a:bodyPr/>
          <a:lstStyle/>
          <a:p>
            <a:r>
              <a:rPr lang="es-AR" dirty="0" smtClean="0"/>
              <a:t>Otra forma de hacer el ítem a</a:t>
            </a:r>
            <a:endParaRPr lang="es-ES" dirty="0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4337" name="Object 1"/>
          <p:cNvGraphicFramePr>
            <a:graphicFrameLocks noChangeAspect="1"/>
          </p:cNvGraphicFramePr>
          <p:nvPr/>
        </p:nvGraphicFramePr>
        <p:xfrm>
          <a:off x="1000099" y="4643446"/>
          <a:ext cx="6679917" cy="17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Ecuación" r:id="rId3" imgW="2857500" imgH="736600" progId="Equation.3">
                  <p:embed/>
                </p:oleObj>
              </mc:Choice>
              <mc:Fallback>
                <p:oleObj name="Ecuación" r:id="rId3" imgW="2857500" imgH="7366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099" y="4643446"/>
                        <a:ext cx="6679917" cy="171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6429388" y="1214422"/>
            <a:ext cx="1571636" cy="1000132"/>
            <a:chOff x="2358" y="13731"/>
            <a:chExt cx="1781" cy="998"/>
          </a:xfrm>
        </p:grpSpPr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358" y="13731"/>
              <a:ext cx="1781" cy="9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642" y="13958"/>
              <a:ext cx="761" cy="5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3091" y="13958"/>
              <a:ext cx="782" cy="58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7805761" y="1214422"/>
          <a:ext cx="12382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Ecuación" r:id="rId5" imgW="126725" imgH="177415" progId="Equation.3">
                  <p:embed/>
                </p:oleObj>
              </mc:Choice>
              <mc:Fallback>
                <p:oleObj name="Ecuación" r:id="rId5" imgW="126725" imgH="177415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5761" y="1214422"/>
                        <a:ext cx="123825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6777054" y="1500174"/>
          <a:ext cx="152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" name="Ecuación" r:id="rId7" imgW="152202" imgH="177569" progId="Equation.3">
                  <p:embed/>
                </p:oleObj>
              </mc:Choice>
              <mc:Fallback>
                <p:oleObj name="Ecuación" r:id="rId7" imgW="152202" imgH="177569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054" y="1500174"/>
                        <a:ext cx="152400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7572397" y="1571612"/>
          <a:ext cx="14287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2" name="Ecuación" r:id="rId9" imgW="139579" imgH="164957" progId="Equation.3">
                  <p:embed/>
                </p:oleObj>
              </mc:Choice>
              <mc:Fallback>
                <p:oleObj name="Ecuación" r:id="rId9" imgW="139579" imgH="164957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97" y="1571612"/>
                        <a:ext cx="142875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571472" y="1500174"/>
          <a:ext cx="53689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3" name="Ecuación" r:id="rId11" imgW="2463480" imgH="520560" progId="Equation.3">
                  <p:embed/>
                </p:oleObj>
              </mc:Choice>
              <mc:Fallback>
                <p:oleObj name="Ecuación" r:id="rId11" imgW="24634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1500174"/>
                        <a:ext cx="5368925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500034" y="428603"/>
          <a:ext cx="3857652" cy="717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name="Ecuación" r:id="rId13" imgW="1231366" imgH="228501" progId="Equation.3">
                  <p:embed/>
                </p:oleObj>
              </mc:Choice>
              <mc:Fallback>
                <p:oleObj name="Ecuación" r:id="rId13" imgW="1231366" imgH="228501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428603"/>
                        <a:ext cx="3857652" cy="7177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116432"/>
              </p:ext>
            </p:extLst>
          </p:nvPr>
        </p:nvGraphicFramePr>
        <p:xfrm>
          <a:off x="714348" y="3905924"/>
          <a:ext cx="7358114" cy="96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5" name="Ecuación" r:id="rId15" imgW="2908080" imgH="380880" progId="Equation.3">
                  <p:embed/>
                </p:oleObj>
              </mc:Choice>
              <mc:Fallback>
                <p:oleObj name="Ecuación" r:id="rId15" imgW="2908080" imgH="3808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3905924"/>
                        <a:ext cx="7358114" cy="9632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12 Conector recto"/>
          <p:cNvCxnSpPr/>
          <p:nvPr/>
        </p:nvCxnSpPr>
        <p:spPr>
          <a:xfrm>
            <a:off x="0" y="2852936"/>
            <a:ext cx="9144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TABLA DE CONTINGENCIA</a:t>
            </a:r>
            <a:endParaRPr lang="es-ES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786058"/>
            <a:ext cx="8492425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4800614"/>
            <a:ext cx="8625291" cy="1557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8433" name="Object 1"/>
          <p:cNvGraphicFramePr>
            <a:graphicFrameLocks noChangeAspect="1"/>
          </p:cNvGraphicFramePr>
          <p:nvPr/>
        </p:nvGraphicFramePr>
        <p:xfrm>
          <a:off x="3786182" y="1142984"/>
          <a:ext cx="2064987" cy="1357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cuación" r:id="rId5" imgW="1002960" imgH="660240" progId="Equation.3">
                  <p:embed/>
                </p:oleObj>
              </mc:Choice>
              <mc:Fallback>
                <p:oleObj name="Ecuación" r:id="rId5" imgW="1002960" imgH="6602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1142984"/>
                        <a:ext cx="2064987" cy="13573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3635896" y="4221088"/>
            <a:ext cx="4392488" cy="9629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Mas preguntas: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238"/>
          </a:xfrm>
        </p:spPr>
        <p:txBody>
          <a:bodyPr>
            <a:normAutofit/>
          </a:bodyPr>
          <a:lstStyle/>
          <a:p>
            <a:r>
              <a:rPr lang="es-AR" dirty="0"/>
              <a:t>c</a:t>
            </a:r>
            <a:r>
              <a:rPr lang="es-AR" dirty="0" smtClean="0"/>
              <a:t>) Calcular la probabilidad de que si un frasco tiene menos cantidad de lo informado en la etiqueta tenga además problemas con la tapa.</a:t>
            </a:r>
            <a:endParaRPr lang="es-ES" dirty="0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7409" name="Object 1"/>
          <p:cNvGraphicFramePr>
            <a:graphicFrameLocks noChangeAspect="1"/>
          </p:cNvGraphicFramePr>
          <p:nvPr/>
        </p:nvGraphicFramePr>
        <p:xfrm>
          <a:off x="642910" y="4429132"/>
          <a:ext cx="1653280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Ecuación" r:id="rId3" imgW="774364" imgH="203112" progId="Equation.3">
                  <p:embed/>
                </p:oleObj>
              </mc:Choice>
              <mc:Fallback>
                <p:oleObj name="Ecuación" r:id="rId3" imgW="774364" imgH="203112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4429132"/>
                        <a:ext cx="1653280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714744" y="4286256"/>
          <a:ext cx="41830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cuación" r:id="rId5" imgW="2044440" imgH="419040" progId="Equation.3">
                  <p:embed/>
                </p:oleObj>
              </mc:Choice>
              <mc:Fallback>
                <p:oleObj name="Ecuación" r:id="rId5" imgW="204444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44" y="4286256"/>
                        <a:ext cx="4183063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20" y="5184024"/>
            <a:ext cx="8625291" cy="1557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259632" y="3789040"/>
            <a:ext cx="6264696" cy="12961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357158" y="714356"/>
            <a:ext cx="8229600" cy="1900238"/>
          </a:xfrm>
        </p:spPr>
        <p:txBody>
          <a:bodyPr>
            <a:normAutofit/>
          </a:bodyPr>
          <a:lstStyle/>
          <a:p>
            <a:r>
              <a:rPr lang="es-AR" dirty="0" smtClean="0"/>
              <a:t>d) Calcular la probabilidad de que un frasco tenga menos cantidad de lo informado en la etiqueta si no tiene problemas con la tapa.</a:t>
            </a:r>
            <a:endParaRPr lang="es-ES" dirty="0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6385" name="Object 1"/>
          <p:cNvGraphicFramePr>
            <a:graphicFrameLocks noChangeAspect="1"/>
          </p:cNvGraphicFramePr>
          <p:nvPr/>
        </p:nvGraphicFramePr>
        <p:xfrm>
          <a:off x="1428728" y="2786058"/>
          <a:ext cx="2459248" cy="728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Ecuación" r:id="rId3" imgW="774364" imgH="228501" progId="Equation.3">
                  <p:embed/>
                </p:oleObj>
              </mc:Choice>
              <mc:Fallback>
                <p:oleObj name="Ecuación" r:id="rId3" imgW="774364" imgH="228501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2786058"/>
                        <a:ext cx="2459248" cy="728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703436"/>
              </p:ext>
            </p:extLst>
          </p:nvPr>
        </p:nvGraphicFramePr>
        <p:xfrm>
          <a:off x="1428727" y="3861048"/>
          <a:ext cx="5969041" cy="11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Ecuación" r:id="rId5" imgW="2235200" imgH="431800" progId="Equation.3">
                  <p:embed/>
                </p:oleObj>
              </mc:Choice>
              <mc:Fallback>
                <p:oleObj name="Ecuación" r:id="rId5" imgW="2235200" imgH="431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7" y="3861048"/>
                        <a:ext cx="5969041" cy="11430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20" y="5184024"/>
            <a:ext cx="8625291" cy="1557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1036" y="5589240"/>
            <a:ext cx="8964488" cy="8640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357158" y="714356"/>
            <a:ext cx="8229600" cy="1900238"/>
          </a:xfrm>
        </p:spPr>
        <p:txBody>
          <a:bodyPr>
            <a:normAutofit/>
          </a:bodyPr>
          <a:lstStyle/>
          <a:p>
            <a:r>
              <a:rPr lang="es-AR" dirty="0" smtClean="0"/>
              <a:t>e) ¿Los sucesos “tener menos cantidad” y “tener problemas con la tapa” resultan independientes?</a:t>
            </a:r>
            <a:endParaRPr lang="es-ES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9457" name="Object 1"/>
          <p:cNvGraphicFramePr>
            <a:graphicFrameLocks noChangeAspect="1"/>
          </p:cNvGraphicFramePr>
          <p:nvPr/>
        </p:nvGraphicFramePr>
        <p:xfrm>
          <a:off x="1898650" y="2500313"/>
          <a:ext cx="4662488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Ecuación" r:id="rId3" imgW="1447560" imgH="203040" progId="Equation.3">
                  <p:embed/>
                </p:oleObj>
              </mc:Choice>
              <mc:Fallback>
                <p:oleObj name="Ecuación" r:id="rId3" imgW="1447560" imgH="2030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2500313"/>
                        <a:ext cx="4662488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839788" y="3571875"/>
          <a:ext cx="28590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4" name="Ecuación" r:id="rId5" imgW="1002960" imgH="203040" progId="Equation.3">
                  <p:embed/>
                </p:oleObj>
              </mc:Choice>
              <mc:Fallback>
                <p:oleObj name="Ecuación" r:id="rId5" imgW="10029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3571875"/>
                        <a:ext cx="2859087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857222" y="4286256"/>
          <a:ext cx="1873263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5" name="Ecuación" r:id="rId7" imgW="749160" imgH="203040" progId="Equation.3">
                  <p:embed/>
                </p:oleObj>
              </mc:Choice>
              <mc:Fallback>
                <p:oleObj name="Ecuación" r:id="rId7" imgW="7491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2" y="4286256"/>
                        <a:ext cx="1873263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857224" y="4857760"/>
          <a:ext cx="1881201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6" name="Ecuación" r:id="rId9" imgW="748975" imgH="203112" progId="Equation.3">
                  <p:embed/>
                </p:oleObj>
              </mc:Choice>
              <mc:Fallback>
                <p:oleObj name="Ecuación" r:id="rId9" imgW="748975" imgH="203112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4857760"/>
                        <a:ext cx="1881201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6572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13144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1971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4714876" y="3929066"/>
          <a:ext cx="2780290" cy="85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7" name="Ecuación" r:id="rId11" imgW="1143000" imgH="355600" progId="Equation.3">
                  <p:embed/>
                </p:oleObj>
              </mc:Choice>
              <mc:Fallback>
                <p:oleObj name="Ecuación" r:id="rId11" imgW="1143000" imgH="3556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6" y="3929066"/>
                        <a:ext cx="2780290" cy="857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94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924212"/>
              </p:ext>
            </p:extLst>
          </p:nvPr>
        </p:nvGraphicFramePr>
        <p:xfrm>
          <a:off x="183399" y="5786454"/>
          <a:ext cx="8882125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8" name="Ecuación" r:id="rId13" imgW="3556000" imgH="203200" progId="Equation.3">
                  <p:embed/>
                </p:oleObj>
              </mc:Choice>
              <mc:Fallback>
                <p:oleObj name="Ecuación" r:id="rId13" imgW="3556000" imgH="2032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99" y="5786454"/>
                        <a:ext cx="8882125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483768" y="4941168"/>
            <a:ext cx="4104456" cy="10081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2257428"/>
          </a:xfrm>
        </p:spPr>
        <p:txBody>
          <a:bodyPr/>
          <a:lstStyle/>
          <a:p>
            <a:pPr>
              <a:buNone/>
            </a:pPr>
            <a:r>
              <a:rPr lang="es-ES" sz="2400" dirty="0" smtClean="0"/>
              <a:t>9. Se eligen al azar tres motores de un conjunto de diez, entre los cuales cuatro son a inyección. Hallar la probabilidad de que:</a:t>
            </a:r>
          </a:p>
          <a:p>
            <a:pPr>
              <a:buNone/>
            </a:pPr>
            <a:r>
              <a:rPr lang="es-ES" sz="2400" dirty="0" smtClean="0"/>
              <a:t>a) ninguno sea a inyección.</a:t>
            </a:r>
          </a:p>
          <a:p>
            <a:pPr>
              <a:buNone/>
            </a:pPr>
            <a:r>
              <a:rPr lang="es-ES" sz="2400" dirty="0" smtClean="0"/>
              <a:t>b) a lo sumo uno sea a inyección.</a:t>
            </a:r>
          </a:p>
          <a:p>
            <a:pPr>
              <a:buNone/>
            </a:pPr>
            <a:r>
              <a:rPr lang="es-ES" sz="2400" dirty="0" smtClean="0"/>
              <a:t>c) al menos dos sean a inyección.</a:t>
            </a:r>
          </a:p>
          <a:p>
            <a:pPr>
              <a:buNone/>
            </a:pPr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428596" y="285728"/>
            <a:ext cx="8286808" cy="2286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0493" name="Object 13"/>
          <p:cNvGraphicFramePr>
            <a:graphicFrameLocks noChangeAspect="1"/>
          </p:cNvGraphicFramePr>
          <p:nvPr/>
        </p:nvGraphicFramePr>
        <p:xfrm>
          <a:off x="2357422" y="3571879"/>
          <a:ext cx="28352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7" name="Ecuación" r:id="rId3" imgW="1574640" imgH="241200" progId="Equation.3">
                  <p:embed/>
                </p:oleObj>
              </mc:Choice>
              <mc:Fallback>
                <p:oleObj name="Ecuación" r:id="rId3" imgW="1574640" imgH="2412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22" y="3571879"/>
                        <a:ext cx="28352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0495" name="Object 15"/>
          <p:cNvGraphicFramePr>
            <a:graphicFrameLocks noChangeAspect="1"/>
          </p:cNvGraphicFramePr>
          <p:nvPr/>
        </p:nvGraphicFramePr>
        <p:xfrm>
          <a:off x="2428860" y="4357694"/>
          <a:ext cx="6292259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8" name="Ecuación" r:id="rId5" imgW="3492500" imgH="241300" progId="Equation.3">
                  <p:embed/>
                </p:oleObj>
              </mc:Choice>
              <mc:Fallback>
                <p:oleObj name="Ecuación" r:id="rId5" imgW="3492500" imgH="2413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4357694"/>
                        <a:ext cx="6292259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0497" name="Object 17"/>
          <p:cNvGraphicFramePr>
            <a:graphicFrameLocks noChangeAspect="1"/>
          </p:cNvGraphicFramePr>
          <p:nvPr/>
        </p:nvGraphicFramePr>
        <p:xfrm>
          <a:off x="2571735" y="5000636"/>
          <a:ext cx="3890758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9" name="Ecuación" r:id="rId7" imgW="1930400" imgH="393700" progId="Equation.3">
                  <p:embed/>
                </p:oleObj>
              </mc:Choice>
              <mc:Fallback>
                <p:oleObj name="Ecuación" r:id="rId7" imgW="1930400" imgH="3937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5" y="5000636"/>
                        <a:ext cx="3890758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99" name="Picture 1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42844" y="3214686"/>
            <a:ext cx="2187571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0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0500" name="Object 20"/>
          <p:cNvGraphicFramePr>
            <a:graphicFrameLocks noChangeAspect="1"/>
          </p:cNvGraphicFramePr>
          <p:nvPr/>
        </p:nvGraphicFramePr>
        <p:xfrm>
          <a:off x="357158" y="2786058"/>
          <a:ext cx="4735319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0" name="Ecuación" r:id="rId10" imgW="2209800" imgH="203200" progId="Equation.3">
                  <p:embed/>
                </p:oleObj>
              </mc:Choice>
              <mc:Fallback>
                <p:oleObj name="Ecuación" r:id="rId10" imgW="2209800" imgH="2032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2786058"/>
                        <a:ext cx="4735319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3 Llamada rectangular redondeada"/>
          <p:cNvSpPr/>
          <p:nvPr/>
        </p:nvSpPr>
        <p:spPr>
          <a:xfrm>
            <a:off x="5724128" y="2708920"/>
            <a:ext cx="2991276" cy="936104"/>
          </a:xfrm>
          <a:prstGeom prst="wedgeRoundRectCallout">
            <a:avLst>
              <a:gd name="adj1" fmla="val -89249"/>
              <a:gd name="adj2" fmla="val 1421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dirty="0" smtClean="0">
                <a:solidFill>
                  <a:srgbClr val="FFFF00"/>
                </a:solidFill>
              </a:rPr>
              <a:t>Teorema</a:t>
            </a:r>
          </a:p>
          <a:p>
            <a:pPr algn="ctr"/>
            <a:r>
              <a:rPr lang="es-US" dirty="0">
                <a:solidFill>
                  <a:srgbClr val="FFFF00"/>
                </a:solidFill>
              </a:rPr>
              <a:t>d</a:t>
            </a:r>
            <a:r>
              <a:rPr lang="es-US" dirty="0" smtClean="0">
                <a:solidFill>
                  <a:srgbClr val="FFFF00"/>
                </a:solidFill>
              </a:rPr>
              <a:t>e la</a:t>
            </a:r>
          </a:p>
          <a:p>
            <a:pPr algn="ctr"/>
            <a:r>
              <a:rPr lang="es-US" dirty="0" smtClean="0">
                <a:solidFill>
                  <a:srgbClr val="FFFF00"/>
                </a:solidFill>
              </a:rPr>
              <a:t>Multiplicación</a:t>
            </a:r>
            <a:endParaRPr lang="es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Rectángulo"/>
          <p:cNvSpPr/>
          <p:nvPr/>
        </p:nvSpPr>
        <p:spPr>
          <a:xfrm>
            <a:off x="2071670" y="5429264"/>
            <a:ext cx="5668682" cy="9286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457200" y="285728"/>
            <a:ext cx="8229600" cy="5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b) a lo sumo uno sea a inyección.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-71462"/>
            <a:ext cx="2187571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71406" y="1785926"/>
          <a:ext cx="8912741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7" name="Ecuación" r:id="rId4" imgW="4991100" imgH="203200" progId="Equation.3">
                  <p:embed/>
                </p:oleObj>
              </mc:Choice>
              <mc:Fallback>
                <p:oleObj name="Ecuación" r:id="rId4" imgW="4991100" imgH="203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6" y="1785926"/>
                        <a:ext cx="8912741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71406" y="2214554"/>
          <a:ext cx="88900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8" name="Ecuación" r:id="rId6" imgW="4978080" imgH="203040" progId="Equation.3">
                  <p:embed/>
                </p:oleObj>
              </mc:Choice>
              <mc:Fallback>
                <p:oleObj name="Ecuación" r:id="rId6" imgW="497808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6" y="2214554"/>
                        <a:ext cx="889000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138113" y="2714620"/>
          <a:ext cx="39338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9" name="Ecuación" r:id="rId8" imgW="2514600" imgH="228600" progId="Equation.3">
                  <p:embed/>
                </p:oleObj>
              </mc:Choice>
              <mc:Fallback>
                <p:oleObj name="Ecuación" r:id="rId8" imgW="251460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3" y="2714620"/>
                        <a:ext cx="393382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214282" y="3286124"/>
          <a:ext cx="6758035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0" name="Ecuación" r:id="rId10" imgW="4508500" imgH="241300" progId="Equation.3">
                  <p:embed/>
                </p:oleObj>
              </mc:Choice>
              <mc:Fallback>
                <p:oleObj name="Ecuación" r:id="rId10" imgW="4508500" imgH="2413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3286124"/>
                        <a:ext cx="6758035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214281" y="3786190"/>
          <a:ext cx="5645345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1" name="Ecuación" r:id="rId12" imgW="3429000" imgH="393700" progId="Equation.3">
                  <p:embed/>
                </p:oleObj>
              </mc:Choice>
              <mc:Fallback>
                <p:oleObj name="Ecuación" r:id="rId12" imgW="3429000" imgH="3937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1" y="3786190"/>
                        <a:ext cx="5645345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285719" y="4429132"/>
          <a:ext cx="4202646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2" name="Ecuación" r:id="rId14" imgW="2552700" imgH="393700" progId="Equation.3">
                  <p:embed/>
                </p:oleObj>
              </mc:Choice>
              <mc:Fallback>
                <p:oleObj name="Ecuación" r:id="rId14" imgW="2552700" imgH="3937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19" y="4429132"/>
                        <a:ext cx="4202646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19 Elipse"/>
          <p:cNvSpPr/>
          <p:nvPr/>
        </p:nvSpPr>
        <p:spPr>
          <a:xfrm>
            <a:off x="71406" y="2857496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20 Elipse"/>
          <p:cNvSpPr/>
          <p:nvPr/>
        </p:nvSpPr>
        <p:spPr>
          <a:xfrm>
            <a:off x="142844" y="471488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CuadroTexto"/>
          <p:cNvSpPr txBox="1"/>
          <p:nvPr/>
        </p:nvSpPr>
        <p:spPr>
          <a:xfrm>
            <a:off x="4500562" y="4559866"/>
            <a:ext cx="916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(ítem a)</a:t>
            </a:r>
            <a:endParaRPr lang="es-ES" dirty="0"/>
          </a:p>
        </p:txBody>
      </p:sp>
      <p:sp>
        <p:nvSpPr>
          <p:cNvPr id="2254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1714480" y="5500702"/>
          <a:ext cx="5903218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3" name="Ecuación" r:id="rId16" imgW="2933700" imgH="393700" progId="Equation.3">
                  <p:embed/>
                </p:oleObj>
              </mc:Choice>
              <mc:Fallback>
                <p:oleObj name="Ecuación" r:id="rId16" imgW="2933700" imgH="3937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80" y="5500702"/>
                        <a:ext cx="5903218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22 Llamada rectangular redondeada"/>
          <p:cNvSpPr/>
          <p:nvPr/>
        </p:nvSpPr>
        <p:spPr>
          <a:xfrm>
            <a:off x="6876256" y="3675991"/>
            <a:ext cx="2127179" cy="936104"/>
          </a:xfrm>
          <a:prstGeom prst="wedgeRoundRectCallout">
            <a:avLst>
              <a:gd name="adj1" fmla="val -89931"/>
              <a:gd name="adj2" fmla="val -2066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dirty="0" smtClean="0">
                <a:solidFill>
                  <a:srgbClr val="FFFF00"/>
                </a:solidFill>
              </a:rPr>
              <a:t>Teorema</a:t>
            </a:r>
          </a:p>
          <a:p>
            <a:pPr algn="ctr"/>
            <a:r>
              <a:rPr lang="es-US" dirty="0">
                <a:solidFill>
                  <a:srgbClr val="FFFF00"/>
                </a:solidFill>
              </a:rPr>
              <a:t>d</a:t>
            </a:r>
            <a:r>
              <a:rPr lang="es-US" dirty="0" smtClean="0">
                <a:solidFill>
                  <a:srgbClr val="FFFF00"/>
                </a:solidFill>
              </a:rPr>
              <a:t>e la</a:t>
            </a:r>
          </a:p>
          <a:p>
            <a:pPr algn="ctr"/>
            <a:r>
              <a:rPr lang="es-US" dirty="0" smtClean="0">
                <a:solidFill>
                  <a:srgbClr val="FFFF00"/>
                </a:solidFill>
              </a:rPr>
              <a:t>Multiplicación</a:t>
            </a:r>
            <a:endParaRPr lang="es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0" grpId="0" animBg="1"/>
      <p:bldP spid="21" grpId="0" animBg="1"/>
      <p:bldP spid="22" grpId="0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>
          <a:xfrm>
            <a:off x="1928794" y="4877140"/>
            <a:ext cx="5572164" cy="10001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457200" y="285728"/>
            <a:ext cx="4400552" cy="5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ES" sz="2400" dirty="0" smtClean="0"/>
              <a:t>c</a:t>
            </a:r>
            <a:r>
              <a:rPr kumimoji="0" lang="es-E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al menos dos sean a inyección.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142852"/>
            <a:ext cx="2187571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3553" name="Object 1"/>
          <p:cNvGraphicFramePr>
            <a:graphicFrameLocks noChangeAspect="1"/>
          </p:cNvGraphicFramePr>
          <p:nvPr/>
        </p:nvGraphicFramePr>
        <p:xfrm>
          <a:off x="71406" y="2857496"/>
          <a:ext cx="9001188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Ecuación" r:id="rId4" imgW="4203700" imgH="203200" progId="Equation.3">
                  <p:embed/>
                </p:oleObj>
              </mc:Choice>
              <mc:Fallback>
                <p:oleObj name="Ecuación" r:id="rId4" imgW="4203700" imgH="2032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6" y="2857496"/>
                        <a:ext cx="9001188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7064733"/>
              </p:ext>
            </p:extLst>
          </p:nvPr>
        </p:nvGraphicFramePr>
        <p:xfrm>
          <a:off x="2000231" y="4948578"/>
          <a:ext cx="5429289" cy="818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Ecuación" r:id="rId6" imgW="2590800" imgH="393700" progId="Equation.3">
                  <p:embed/>
                </p:oleObj>
              </mc:Choice>
              <mc:Fallback>
                <p:oleObj name="Ecuación" r:id="rId6" imgW="2590800" imgH="3937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31" y="4948578"/>
                        <a:ext cx="5429289" cy="8183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Elipse"/>
          <p:cNvSpPr/>
          <p:nvPr/>
        </p:nvSpPr>
        <p:spPr>
          <a:xfrm>
            <a:off x="4714876" y="2564904"/>
            <a:ext cx="4321620" cy="8640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" name="2 Llamada rectangular redondeada"/>
          <p:cNvSpPr/>
          <p:nvPr/>
        </p:nvSpPr>
        <p:spPr>
          <a:xfrm>
            <a:off x="7164288" y="3717032"/>
            <a:ext cx="1728192" cy="854976"/>
          </a:xfrm>
          <a:prstGeom prst="wedgeRoundRectCallout">
            <a:avLst>
              <a:gd name="adj1" fmla="val -64505"/>
              <a:gd name="adj2" fmla="val -801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dirty="0" smtClean="0">
                <a:solidFill>
                  <a:srgbClr val="FFFF00"/>
                </a:solidFill>
              </a:rPr>
              <a:t>Calculado en ítem b</a:t>
            </a:r>
            <a:endParaRPr lang="es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265</Words>
  <Application>Microsoft Office PowerPoint</Application>
  <PresentationFormat>Presentación en pantalla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Tema de Office</vt:lpstr>
      <vt:lpstr>Ecuación</vt:lpstr>
      <vt:lpstr>Presentación de PowerPoint</vt:lpstr>
      <vt:lpstr>Otra forma de hacer el ítem a</vt:lpstr>
      <vt:lpstr>TABLA DE CONTINGENCIA</vt:lpstr>
      <vt:lpstr>Mas preguntas: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Salaberry</dc:creator>
  <cp:lastModifiedBy>Andrea</cp:lastModifiedBy>
  <cp:revision>24</cp:revision>
  <dcterms:created xsi:type="dcterms:W3CDTF">2020-04-07T18:21:27Z</dcterms:created>
  <dcterms:modified xsi:type="dcterms:W3CDTF">2021-04-08T14:53:52Z</dcterms:modified>
</cp:coreProperties>
</file>